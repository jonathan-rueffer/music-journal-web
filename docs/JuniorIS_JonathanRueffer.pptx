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30"/>
  </p:notesMasterIdLst>
  <p:sldIdLst>
    <p:sldId id="256" r:id="rId2"/>
    <p:sldId id="257" r:id="rId3"/>
    <p:sldId id="262" r:id="rId4"/>
    <p:sldId id="263" r:id="rId5"/>
    <p:sldId id="264" r:id="rId6"/>
    <p:sldId id="265" r:id="rId7"/>
    <p:sldId id="266" r:id="rId8"/>
    <p:sldId id="267" r:id="rId9"/>
    <p:sldId id="258" r:id="rId10"/>
    <p:sldId id="275" r:id="rId11"/>
    <p:sldId id="270" r:id="rId12"/>
    <p:sldId id="276" r:id="rId13"/>
    <p:sldId id="271" r:id="rId14"/>
    <p:sldId id="277" r:id="rId15"/>
    <p:sldId id="272" r:id="rId16"/>
    <p:sldId id="278" r:id="rId17"/>
    <p:sldId id="273" r:id="rId18"/>
    <p:sldId id="279" r:id="rId19"/>
    <p:sldId id="274" r:id="rId20"/>
    <p:sldId id="280" r:id="rId21"/>
    <p:sldId id="259" r:id="rId22"/>
    <p:sldId id="285" r:id="rId23"/>
    <p:sldId id="286" r:id="rId24"/>
    <p:sldId id="281" r:id="rId25"/>
    <p:sldId id="261" r:id="rId26"/>
    <p:sldId id="282" r:id="rId27"/>
    <p:sldId id="283" r:id="rId28"/>
    <p:sldId id="28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4747"/>
    <a:srgbClr val="A7A7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3202EB-0D80-4553-98EE-888DA738F863}" v="3" dt="2025-05-04T20:28:38.1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3479" autoAdjust="0"/>
  </p:normalViewPr>
  <p:slideViewPr>
    <p:cSldViewPr snapToGrid="0">
      <p:cViewPr varScale="1">
        <p:scale>
          <a:sx n="51" d="100"/>
          <a:sy n="51" d="100"/>
        </p:scale>
        <p:origin x="17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Rueffer" userId="8b8262048725bd5f" providerId="LiveId" clId="{D83202EB-0D80-4553-98EE-888DA738F863}"/>
    <pc:docChg chg="undo custSel modSld">
      <pc:chgData name="Jonathan Rueffer" userId="8b8262048725bd5f" providerId="LiveId" clId="{D83202EB-0D80-4553-98EE-888DA738F863}" dt="2025-05-05T15:43:58.953" v="4836" actId="20577"/>
      <pc:docMkLst>
        <pc:docMk/>
      </pc:docMkLst>
      <pc:sldChg chg="modNotesTx">
        <pc:chgData name="Jonathan Rueffer" userId="8b8262048725bd5f" providerId="LiveId" clId="{D83202EB-0D80-4553-98EE-888DA738F863}" dt="2025-05-05T15:08:37.545" v="4496" actId="20577"/>
        <pc:sldMkLst>
          <pc:docMk/>
          <pc:sldMk cId="245168783" sldId="257"/>
        </pc:sldMkLst>
      </pc:sldChg>
      <pc:sldChg chg="modNotesTx">
        <pc:chgData name="Jonathan Rueffer" userId="8b8262048725bd5f" providerId="LiveId" clId="{D83202EB-0D80-4553-98EE-888DA738F863}" dt="2025-05-05T15:31:25.425" v="4745" actId="20577"/>
        <pc:sldMkLst>
          <pc:docMk/>
          <pc:sldMk cId="722175282" sldId="258"/>
        </pc:sldMkLst>
      </pc:sldChg>
      <pc:sldChg chg="modNotesTx">
        <pc:chgData name="Jonathan Rueffer" userId="8b8262048725bd5f" providerId="LiveId" clId="{D83202EB-0D80-4553-98EE-888DA738F863}" dt="2025-05-05T15:34:20.437" v="4752" actId="20577"/>
        <pc:sldMkLst>
          <pc:docMk/>
          <pc:sldMk cId="1934875627" sldId="259"/>
        </pc:sldMkLst>
      </pc:sldChg>
      <pc:sldChg chg="modNotesTx">
        <pc:chgData name="Jonathan Rueffer" userId="8b8262048725bd5f" providerId="LiveId" clId="{D83202EB-0D80-4553-98EE-888DA738F863}" dt="2025-05-05T15:19:28.643" v="4739" actId="20577"/>
        <pc:sldMkLst>
          <pc:docMk/>
          <pc:sldMk cId="645292330" sldId="261"/>
        </pc:sldMkLst>
      </pc:sldChg>
      <pc:sldChg chg="modSp mod modNotesTx">
        <pc:chgData name="Jonathan Rueffer" userId="8b8262048725bd5f" providerId="LiveId" clId="{D83202EB-0D80-4553-98EE-888DA738F863}" dt="2025-05-04T19:43:20.671" v="701" actId="313"/>
        <pc:sldMkLst>
          <pc:docMk/>
          <pc:sldMk cId="478016003" sldId="262"/>
        </pc:sldMkLst>
        <pc:spChg chg="mod">
          <ac:chgData name="Jonathan Rueffer" userId="8b8262048725bd5f" providerId="LiveId" clId="{D83202EB-0D80-4553-98EE-888DA738F863}" dt="2025-05-04T19:21:20.001" v="9" actId="113"/>
          <ac:spMkLst>
            <pc:docMk/>
            <pc:sldMk cId="478016003" sldId="262"/>
            <ac:spMk id="10" creationId="{3FD0D97A-6B2C-5D35-935B-C646110A9FB0}"/>
          </ac:spMkLst>
        </pc:spChg>
      </pc:sldChg>
      <pc:sldChg chg="modSp mod">
        <pc:chgData name="Jonathan Rueffer" userId="8b8262048725bd5f" providerId="LiveId" clId="{D83202EB-0D80-4553-98EE-888DA738F863}" dt="2025-05-04T19:21:23.169" v="10" actId="113"/>
        <pc:sldMkLst>
          <pc:docMk/>
          <pc:sldMk cId="4092636293" sldId="263"/>
        </pc:sldMkLst>
        <pc:spChg chg="mod">
          <ac:chgData name="Jonathan Rueffer" userId="8b8262048725bd5f" providerId="LiveId" clId="{D83202EB-0D80-4553-98EE-888DA738F863}" dt="2025-05-04T19:21:23.169" v="10" actId="113"/>
          <ac:spMkLst>
            <pc:docMk/>
            <pc:sldMk cId="4092636293" sldId="263"/>
            <ac:spMk id="10" creationId="{F12E6394-51E7-1076-E52D-488F8A4F2F4A}"/>
          </ac:spMkLst>
        </pc:spChg>
      </pc:sldChg>
      <pc:sldChg chg="modSp mod modNotesTx">
        <pc:chgData name="Jonathan Rueffer" userId="8b8262048725bd5f" providerId="LiveId" clId="{D83202EB-0D80-4553-98EE-888DA738F863}" dt="2025-05-04T20:25:21.370" v="4252" actId="20577"/>
        <pc:sldMkLst>
          <pc:docMk/>
          <pc:sldMk cId="2043997881" sldId="264"/>
        </pc:sldMkLst>
        <pc:spChg chg="mod">
          <ac:chgData name="Jonathan Rueffer" userId="8b8262048725bd5f" providerId="LiveId" clId="{D83202EB-0D80-4553-98EE-888DA738F863}" dt="2025-05-04T19:21:26.082" v="11" actId="113"/>
          <ac:spMkLst>
            <pc:docMk/>
            <pc:sldMk cId="2043997881" sldId="264"/>
            <ac:spMk id="10" creationId="{1B618FFB-4A68-F359-2897-C1228969BEC6}"/>
          </ac:spMkLst>
        </pc:spChg>
      </pc:sldChg>
      <pc:sldChg chg="modSp mod">
        <pc:chgData name="Jonathan Rueffer" userId="8b8262048725bd5f" providerId="LiveId" clId="{D83202EB-0D80-4553-98EE-888DA738F863}" dt="2025-05-04T19:21:30.437" v="12" actId="113"/>
        <pc:sldMkLst>
          <pc:docMk/>
          <pc:sldMk cId="3979637823" sldId="265"/>
        </pc:sldMkLst>
        <pc:spChg chg="mod">
          <ac:chgData name="Jonathan Rueffer" userId="8b8262048725bd5f" providerId="LiveId" clId="{D83202EB-0D80-4553-98EE-888DA738F863}" dt="2025-05-04T19:21:30.437" v="12" actId="113"/>
          <ac:spMkLst>
            <pc:docMk/>
            <pc:sldMk cId="3979637823" sldId="265"/>
            <ac:spMk id="10" creationId="{AF8CAA7D-52F4-825A-762E-CC85A2F1A858}"/>
          </ac:spMkLst>
        </pc:spChg>
      </pc:sldChg>
      <pc:sldChg chg="modSp mod modNotesTx">
        <pc:chgData name="Jonathan Rueffer" userId="8b8262048725bd5f" providerId="LiveId" clId="{D83202EB-0D80-4553-98EE-888DA738F863}" dt="2025-05-04T20:25:50.778" v="4311" actId="20577"/>
        <pc:sldMkLst>
          <pc:docMk/>
          <pc:sldMk cId="3327232922" sldId="266"/>
        </pc:sldMkLst>
        <pc:spChg chg="mod">
          <ac:chgData name="Jonathan Rueffer" userId="8b8262048725bd5f" providerId="LiveId" clId="{D83202EB-0D80-4553-98EE-888DA738F863}" dt="2025-05-04T19:21:33.070" v="13" actId="113"/>
          <ac:spMkLst>
            <pc:docMk/>
            <pc:sldMk cId="3327232922" sldId="266"/>
            <ac:spMk id="10" creationId="{DCA0CAA2-E22D-8089-E639-F264EDE6D5C6}"/>
          </ac:spMkLst>
        </pc:spChg>
      </pc:sldChg>
      <pc:sldChg chg="modSp mod">
        <pc:chgData name="Jonathan Rueffer" userId="8b8262048725bd5f" providerId="LiveId" clId="{D83202EB-0D80-4553-98EE-888DA738F863}" dt="2025-05-05T15:43:58.953" v="4836" actId="20577"/>
        <pc:sldMkLst>
          <pc:docMk/>
          <pc:sldMk cId="125077568" sldId="267"/>
        </pc:sldMkLst>
        <pc:spChg chg="mod">
          <ac:chgData name="Jonathan Rueffer" userId="8b8262048725bd5f" providerId="LiveId" clId="{D83202EB-0D80-4553-98EE-888DA738F863}" dt="2025-05-05T15:43:58.953" v="4836" actId="20577"/>
          <ac:spMkLst>
            <pc:docMk/>
            <pc:sldMk cId="125077568" sldId="267"/>
            <ac:spMk id="7" creationId="{2CABB70E-5EF8-4FAB-70AF-792DACF60914}"/>
          </ac:spMkLst>
        </pc:spChg>
        <pc:spChg chg="mod">
          <ac:chgData name="Jonathan Rueffer" userId="8b8262048725bd5f" providerId="LiveId" clId="{D83202EB-0D80-4553-98EE-888DA738F863}" dt="2025-05-04T19:21:36.224" v="14" actId="113"/>
          <ac:spMkLst>
            <pc:docMk/>
            <pc:sldMk cId="125077568" sldId="267"/>
            <ac:spMk id="10" creationId="{F0AF8FA8-7CB2-0D5A-70BC-7B70DBF10047}"/>
          </ac:spMkLst>
        </pc:spChg>
      </pc:sldChg>
      <pc:sldChg chg="modNotesTx">
        <pc:chgData name="Jonathan Rueffer" userId="8b8262048725bd5f" providerId="LiveId" clId="{D83202EB-0D80-4553-98EE-888DA738F863}" dt="2025-05-04T19:46:20.434" v="1166" actId="20577"/>
        <pc:sldMkLst>
          <pc:docMk/>
          <pc:sldMk cId="756646300" sldId="270"/>
        </pc:sldMkLst>
      </pc:sldChg>
      <pc:sldChg chg="modNotesTx">
        <pc:chgData name="Jonathan Rueffer" userId="8b8262048725bd5f" providerId="LiveId" clId="{D83202EB-0D80-4553-98EE-888DA738F863}" dt="2025-05-04T19:48:25.563" v="1369" actId="20577"/>
        <pc:sldMkLst>
          <pc:docMk/>
          <pc:sldMk cId="3551043407" sldId="271"/>
        </pc:sldMkLst>
      </pc:sldChg>
      <pc:sldChg chg="modNotesTx">
        <pc:chgData name="Jonathan Rueffer" userId="8b8262048725bd5f" providerId="LiveId" clId="{D83202EB-0D80-4553-98EE-888DA738F863}" dt="2025-05-04T19:51:28.223" v="1756" actId="20577"/>
        <pc:sldMkLst>
          <pc:docMk/>
          <pc:sldMk cId="848551933" sldId="272"/>
        </pc:sldMkLst>
      </pc:sldChg>
      <pc:sldChg chg="addSp delSp modSp mod modNotesTx">
        <pc:chgData name="Jonathan Rueffer" userId="8b8262048725bd5f" providerId="LiveId" clId="{D83202EB-0D80-4553-98EE-888DA738F863}" dt="2025-05-05T15:16:09.069" v="4564" actId="20577"/>
        <pc:sldMkLst>
          <pc:docMk/>
          <pc:sldMk cId="1988677918" sldId="273"/>
        </pc:sldMkLst>
        <pc:spChg chg="add mod">
          <ac:chgData name="Jonathan Rueffer" userId="8b8262048725bd5f" providerId="LiveId" clId="{D83202EB-0D80-4553-98EE-888DA738F863}" dt="2025-05-04T20:28:20.431" v="4339"/>
          <ac:spMkLst>
            <pc:docMk/>
            <pc:sldMk cId="1988677918" sldId="273"/>
            <ac:spMk id="9" creationId="{EF7FE221-B529-E1EF-018F-FDEAB01D5C23}"/>
          </ac:spMkLst>
        </pc:spChg>
        <pc:spChg chg="del">
          <ac:chgData name="Jonathan Rueffer" userId="8b8262048725bd5f" providerId="LiveId" clId="{D83202EB-0D80-4553-98EE-888DA738F863}" dt="2025-05-04T20:28:20.116" v="4338" actId="478"/>
          <ac:spMkLst>
            <pc:docMk/>
            <pc:sldMk cId="1988677918" sldId="273"/>
            <ac:spMk id="18" creationId="{D74A2C91-6908-F98B-B98E-80ADDC0B371A}"/>
          </ac:spMkLst>
        </pc:spChg>
      </pc:sldChg>
      <pc:sldChg chg="modNotesTx">
        <pc:chgData name="Jonathan Rueffer" userId="8b8262048725bd5f" providerId="LiveId" clId="{D83202EB-0D80-4553-98EE-888DA738F863}" dt="2025-05-04T20:29:21.554" v="4379" actId="20577"/>
        <pc:sldMkLst>
          <pc:docMk/>
          <pc:sldMk cId="4284426787" sldId="274"/>
        </pc:sldMkLst>
      </pc:sldChg>
      <pc:sldChg chg="modSp mod">
        <pc:chgData name="Jonathan Rueffer" userId="8b8262048725bd5f" providerId="LiveId" clId="{D83202EB-0D80-4553-98EE-888DA738F863}" dt="2025-05-04T20:28:04.522" v="4337" actId="20577"/>
        <pc:sldMkLst>
          <pc:docMk/>
          <pc:sldMk cId="260588593" sldId="278"/>
        </pc:sldMkLst>
        <pc:spChg chg="mod">
          <ac:chgData name="Jonathan Rueffer" userId="8b8262048725bd5f" providerId="LiveId" clId="{D83202EB-0D80-4553-98EE-888DA738F863}" dt="2025-05-04T20:28:04.522" v="4337" actId="20577"/>
          <ac:spMkLst>
            <pc:docMk/>
            <pc:sldMk cId="260588593" sldId="278"/>
            <ac:spMk id="8" creationId="{8584A08A-EFEA-4F53-2B9E-1E9689342661}"/>
          </ac:spMkLst>
        </pc:spChg>
      </pc:sldChg>
      <pc:sldChg chg="addSp delSp modSp mod modNotesTx">
        <pc:chgData name="Jonathan Rueffer" userId="8b8262048725bd5f" providerId="LiveId" clId="{D83202EB-0D80-4553-98EE-888DA738F863}" dt="2025-05-05T15:16:52.385" v="4715" actId="313"/>
        <pc:sldMkLst>
          <pc:docMk/>
          <pc:sldMk cId="1394182917" sldId="279"/>
        </pc:sldMkLst>
        <pc:spChg chg="del mod">
          <ac:chgData name="Jonathan Rueffer" userId="8b8262048725bd5f" providerId="LiveId" clId="{D83202EB-0D80-4553-98EE-888DA738F863}" dt="2025-05-04T20:28:32.379" v="4342" actId="478"/>
          <ac:spMkLst>
            <pc:docMk/>
            <pc:sldMk cId="1394182917" sldId="279"/>
            <ac:spMk id="18" creationId="{7E407185-0649-0729-6AAC-60D9A7FDB19C}"/>
          </ac:spMkLst>
        </pc:spChg>
        <pc:spChg chg="add del mod">
          <ac:chgData name="Jonathan Rueffer" userId="8b8262048725bd5f" providerId="LiveId" clId="{D83202EB-0D80-4553-98EE-888DA738F863}" dt="2025-05-04T20:28:42.454" v="4344" actId="478"/>
          <ac:spMkLst>
            <pc:docMk/>
            <pc:sldMk cId="1394182917" sldId="279"/>
            <ac:spMk id="19" creationId="{93607CFB-FF17-84B6-808D-511A022DC1AD}"/>
          </ac:spMkLst>
        </pc:spChg>
        <pc:spChg chg="add mod">
          <ac:chgData name="Jonathan Rueffer" userId="8b8262048725bd5f" providerId="LiveId" clId="{D83202EB-0D80-4553-98EE-888DA738F863}" dt="2025-05-04T20:28:38.117" v="4343"/>
          <ac:spMkLst>
            <pc:docMk/>
            <pc:sldMk cId="1394182917" sldId="279"/>
            <ac:spMk id="21" creationId="{8A809129-C0EC-C121-86E0-EB113C017A32}"/>
          </ac:spMkLst>
        </pc:spChg>
      </pc:sldChg>
      <pc:sldChg chg="modNotesTx">
        <pc:chgData name="Jonathan Rueffer" userId="8b8262048725bd5f" providerId="LiveId" clId="{D83202EB-0D80-4553-98EE-888DA738F863}" dt="2025-05-04T20:04:37.289" v="2889" actId="20577"/>
        <pc:sldMkLst>
          <pc:docMk/>
          <pc:sldMk cId="2931988178" sldId="281"/>
        </pc:sldMkLst>
      </pc:sldChg>
      <pc:sldChg chg="modNotesTx">
        <pc:chgData name="Jonathan Rueffer" userId="8b8262048725bd5f" providerId="LiveId" clId="{D83202EB-0D80-4553-98EE-888DA738F863}" dt="2025-05-04T20:23:08.225" v="4246" actId="20577"/>
        <pc:sldMkLst>
          <pc:docMk/>
          <pc:sldMk cId="1397023871" sldId="282"/>
        </pc:sldMkLst>
      </pc:sldChg>
      <pc:sldChg chg="modSp mod">
        <pc:chgData name="Jonathan Rueffer" userId="8b8262048725bd5f" providerId="LiveId" clId="{D83202EB-0D80-4553-98EE-888DA738F863}" dt="2025-05-04T19:19:43.504" v="8" actId="20577"/>
        <pc:sldMkLst>
          <pc:docMk/>
          <pc:sldMk cId="4158294303" sldId="284"/>
        </pc:sldMkLst>
        <pc:spChg chg="mod">
          <ac:chgData name="Jonathan Rueffer" userId="8b8262048725bd5f" providerId="LiveId" clId="{D83202EB-0D80-4553-98EE-888DA738F863}" dt="2025-05-04T19:19:43.504" v="8" actId="20577"/>
          <ac:spMkLst>
            <pc:docMk/>
            <pc:sldMk cId="4158294303" sldId="284"/>
            <ac:spMk id="2" creationId="{8EBBAEDF-233E-EB80-9B0A-34B79A50A46A}"/>
          </ac:spMkLst>
        </pc:spChg>
      </pc:sldChg>
      <pc:sldChg chg="modNotesTx">
        <pc:chgData name="Jonathan Rueffer" userId="8b8262048725bd5f" providerId="LiveId" clId="{D83202EB-0D80-4553-98EE-888DA738F863}" dt="2025-05-04T20:01:04.924" v="2646" actId="20577"/>
        <pc:sldMkLst>
          <pc:docMk/>
          <pc:sldMk cId="2171938595"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2543E-610F-4BDE-B9C2-32BF0613AEF5}" type="datetimeFigureOut">
              <a:rPr lang="en-US" smtClean="0"/>
              <a:t>5/4/2025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B87C1F-8E13-4C1B-85BB-E89E2966FB8F}" type="slidenum">
              <a:rPr lang="en-US" smtClean="0"/>
              <a:t>‹#›</a:t>
            </a:fld>
            <a:endParaRPr lang="en-US"/>
          </a:p>
        </p:txBody>
      </p:sp>
    </p:spTree>
    <p:extLst>
      <p:ext uri="{BB962C8B-B14F-4D97-AF65-F5344CB8AC3E}">
        <p14:creationId xmlns:p14="http://schemas.microsoft.com/office/powerpoint/2010/main" val="3917141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textual data that we humans produce, like news articles or social media posts, are unstructured—they vary in length, content, and do not follow a predefined style or structure. Information Extraction aims to identify and structure content from this unstructured type of data. </a:t>
            </a:r>
          </a:p>
          <a:p>
            <a:r>
              <a:rPr lang="en-US" dirty="0"/>
              <a:t>There are 3 main types of tasks associated with IE.</a:t>
            </a:r>
          </a:p>
        </p:txBody>
      </p:sp>
      <p:sp>
        <p:nvSpPr>
          <p:cNvPr id="4" name="Slide Number Placeholder 3"/>
          <p:cNvSpPr>
            <a:spLocks noGrp="1"/>
          </p:cNvSpPr>
          <p:nvPr>
            <p:ph type="sldNum" sz="quarter" idx="5"/>
          </p:nvPr>
        </p:nvSpPr>
        <p:spPr/>
        <p:txBody>
          <a:bodyPr/>
          <a:lstStyle/>
          <a:p>
            <a:fld id="{44B87C1F-8E13-4C1B-85BB-E89E2966FB8F}" type="slidenum">
              <a:rPr lang="en-US" smtClean="0"/>
              <a:t>2</a:t>
            </a:fld>
            <a:endParaRPr lang="en-US"/>
          </a:p>
        </p:txBody>
      </p:sp>
    </p:spTree>
    <p:extLst>
      <p:ext uri="{BB962C8B-B14F-4D97-AF65-F5344CB8AC3E}">
        <p14:creationId xmlns:p14="http://schemas.microsoft.com/office/powerpoint/2010/main" val="1139132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NER aims to identify the proper names of entities like…</a:t>
            </a:r>
          </a:p>
        </p:txBody>
      </p:sp>
      <p:sp>
        <p:nvSpPr>
          <p:cNvPr id="4" name="Slide Number Placeholder 3"/>
          <p:cNvSpPr>
            <a:spLocks noGrp="1"/>
          </p:cNvSpPr>
          <p:nvPr>
            <p:ph type="sldNum" sz="quarter" idx="5"/>
          </p:nvPr>
        </p:nvSpPr>
        <p:spPr/>
        <p:txBody>
          <a:bodyPr/>
          <a:lstStyle/>
          <a:p>
            <a:fld id="{44B87C1F-8E13-4C1B-85BB-E89E2966FB8F}" type="slidenum">
              <a:rPr lang="en-US" smtClean="0"/>
              <a:t>3</a:t>
            </a:fld>
            <a:endParaRPr lang="en-US"/>
          </a:p>
        </p:txBody>
      </p:sp>
    </p:spTree>
    <p:extLst>
      <p:ext uri="{BB962C8B-B14F-4D97-AF65-F5344CB8AC3E}">
        <p14:creationId xmlns:p14="http://schemas.microsoft.com/office/powerpoint/2010/main" val="423668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 aims to extract the relationship between these entities, like…</a:t>
            </a:r>
          </a:p>
        </p:txBody>
      </p:sp>
      <p:sp>
        <p:nvSpPr>
          <p:cNvPr id="4" name="Slide Number Placeholder 3"/>
          <p:cNvSpPr>
            <a:spLocks noGrp="1"/>
          </p:cNvSpPr>
          <p:nvPr>
            <p:ph type="sldNum" sz="quarter" idx="5"/>
          </p:nvPr>
        </p:nvSpPr>
        <p:spPr/>
        <p:txBody>
          <a:bodyPr/>
          <a:lstStyle/>
          <a:p>
            <a:fld id="{44B87C1F-8E13-4C1B-85BB-E89E2966FB8F}" type="slidenum">
              <a:rPr lang="en-US" smtClean="0"/>
              <a:t>5</a:t>
            </a:fld>
            <a:endParaRPr lang="en-US"/>
          </a:p>
        </p:txBody>
      </p:sp>
    </p:spTree>
    <p:extLst>
      <p:ext uri="{BB962C8B-B14F-4D97-AF65-F5344CB8AC3E}">
        <p14:creationId xmlns:p14="http://schemas.microsoft.com/office/powerpoint/2010/main" val="4241190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Seeks to identify the events mentioned in a text</a:t>
            </a:r>
          </a:p>
        </p:txBody>
      </p:sp>
      <p:sp>
        <p:nvSpPr>
          <p:cNvPr id="4" name="Slide Number Placeholder 3"/>
          <p:cNvSpPr>
            <a:spLocks noGrp="1"/>
          </p:cNvSpPr>
          <p:nvPr>
            <p:ph type="sldNum" sz="quarter" idx="5"/>
          </p:nvPr>
        </p:nvSpPr>
        <p:spPr/>
        <p:txBody>
          <a:bodyPr/>
          <a:lstStyle/>
          <a:p>
            <a:fld id="{44B87C1F-8E13-4C1B-85BB-E89E2966FB8F}" type="slidenum">
              <a:rPr lang="en-US" smtClean="0"/>
              <a:t>7</a:t>
            </a:fld>
            <a:endParaRPr lang="en-US"/>
          </a:p>
        </p:txBody>
      </p:sp>
    </p:spTree>
    <p:extLst>
      <p:ext uri="{BB962C8B-B14F-4D97-AF65-F5344CB8AC3E}">
        <p14:creationId xmlns:p14="http://schemas.microsoft.com/office/powerpoint/2010/main" val="1273956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common approach to IE that I found in my research is an ML-based pipeline, so I will briefly go over that. It Starts with the target raw text in human language.</a:t>
            </a:r>
          </a:p>
        </p:txBody>
      </p:sp>
      <p:sp>
        <p:nvSpPr>
          <p:cNvPr id="4" name="Slide Number Placeholder 3"/>
          <p:cNvSpPr>
            <a:spLocks noGrp="1"/>
          </p:cNvSpPr>
          <p:nvPr>
            <p:ph type="sldNum" sz="quarter" idx="5"/>
          </p:nvPr>
        </p:nvSpPr>
        <p:spPr/>
        <p:txBody>
          <a:bodyPr/>
          <a:lstStyle/>
          <a:p>
            <a:fld id="{44B87C1F-8E13-4C1B-85BB-E89E2966FB8F}" type="slidenum">
              <a:rPr lang="en-US" smtClean="0"/>
              <a:t>9</a:t>
            </a:fld>
            <a:endParaRPr lang="en-US"/>
          </a:p>
        </p:txBody>
      </p:sp>
    </p:spTree>
    <p:extLst>
      <p:ext uri="{BB962C8B-B14F-4D97-AF65-F5344CB8AC3E}">
        <p14:creationId xmlns:p14="http://schemas.microsoft.com/office/powerpoint/2010/main" val="1354343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of the </a:t>
            </a:r>
            <a:r>
              <a:rPr lang="en-US" dirty="0" err="1"/>
              <a:t>pipline</a:t>
            </a:r>
            <a:r>
              <a:rPr lang="en-US" dirty="0"/>
              <a:t> involves a </a:t>
            </a:r>
            <a:r>
              <a:rPr lang="en-US" dirty="0" err="1"/>
              <a:t>tokenizor</a:t>
            </a:r>
            <a:r>
              <a:rPr lang="en-US" dirty="0"/>
              <a:t> that tokenizes the input text, a common step in NLP. The </a:t>
            </a:r>
            <a:r>
              <a:rPr lang="en-US" dirty="0" err="1"/>
              <a:t>tokenizor</a:t>
            </a:r>
            <a:r>
              <a:rPr lang="en-US" dirty="0"/>
              <a:t> breaks the text into smaller tokens like sentence or words.</a:t>
            </a:r>
          </a:p>
        </p:txBody>
      </p:sp>
      <p:sp>
        <p:nvSpPr>
          <p:cNvPr id="4" name="Slide Number Placeholder 3"/>
          <p:cNvSpPr>
            <a:spLocks noGrp="1"/>
          </p:cNvSpPr>
          <p:nvPr>
            <p:ph type="sldNum" sz="quarter" idx="5"/>
          </p:nvPr>
        </p:nvSpPr>
        <p:spPr/>
        <p:txBody>
          <a:bodyPr/>
          <a:lstStyle/>
          <a:p>
            <a:fld id="{44B87C1F-8E13-4C1B-85BB-E89E2966FB8F}" type="slidenum">
              <a:rPr lang="en-US" smtClean="0"/>
              <a:t>11</a:t>
            </a:fld>
            <a:endParaRPr lang="en-US"/>
          </a:p>
        </p:txBody>
      </p:sp>
    </p:spTree>
    <p:extLst>
      <p:ext uri="{BB962C8B-B14F-4D97-AF65-F5344CB8AC3E}">
        <p14:creationId xmlns:p14="http://schemas.microsoft.com/office/powerpoint/2010/main" val="3434681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Part-of-Speech tagging, where the words are labeled as nouns, verbs, etc. This helps a model understand the structure and meaning of a sentence.</a:t>
            </a:r>
          </a:p>
        </p:txBody>
      </p:sp>
      <p:sp>
        <p:nvSpPr>
          <p:cNvPr id="4" name="Slide Number Placeholder 3"/>
          <p:cNvSpPr>
            <a:spLocks noGrp="1"/>
          </p:cNvSpPr>
          <p:nvPr>
            <p:ph type="sldNum" sz="quarter" idx="5"/>
          </p:nvPr>
        </p:nvSpPr>
        <p:spPr/>
        <p:txBody>
          <a:bodyPr/>
          <a:lstStyle/>
          <a:p>
            <a:fld id="{44B87C1F-8E13-4C1B-85BB-E89E2966FB8F}" type="slidenum">
              <a:rPr lang="en-US" smtClean="0"/>
              <a:t>13</a:t>
            </a:fld>
            <a:endParaRPr lang="en-US"/>
          </a:p>
        </p:txBody>
      </p:sp>
    </p:spTree>
    <p:extLst>
      <p:ext uri="{BB962C8B-B14F-4D97-AF65-F5344CB8AC3E}">
        <p14:creationId xmlns:p14="http://schemas.microsoft.com/office/powerpoint/2010/main" val="414337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the trainable name tagging step, which is the NER task I previously mentioned. A lot of different algorithms are used for this step.</a:t>
            </a:r>
          </a:p>
        </p:txBody>
      </p:sp>
      <p:sp>
        <p:nvSpPr>
          <p:cNvPr id="4" name="Slide Number Placeholder 3"/>
          <p:cNvSpPr>
            <a:spLocks noGrp="1"/>
          </p:cNvSpPr>
          <p:nvPr>
            <p:ph type="sldNum" sz="quarter" idx="5"/>
          </p:nvPr>
        </p:nvSpPr>
        <p:spPr/>
        <p:txBody>
          <a:bodyPr/>
          <a:lstStyle/>
          <a:p>
            <a:fld id="{44B87C1F-8E13-4C1B-85BB-E89E2966FB8F}" type="slidenum">
              <a:rPr lang="en-US" smtClean="0"/>
              <a:t>15</a:t>
            </a:fld>
            <a:endParaRPr lang="en-US"/>
          </a:p>
        </p:txBody>
      </p:sp>
    </p:spTree>
    <p:extLst>
      <p:ext uri="{BB962C8B-B14F-4D97-AF65-F5344CB8AC3E}">
        <p14:creationId xmlns:p14="http://schemas.microsoft.com/office/powerpoint/2010/main" val="3348017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involves a coreference resolver, which determines whether two mentions refer to the same underlying entity. </a:t>
            </a:r>
          </a:p>
          <a:p>
            <a:r>
              <a:rPr lang="en-US" dirty="0"/>
              <a:t>“New York” and “the city”</a:t>
            </a:r>
          </a:p>
        </p:txBody>
      </p:sp>
      <p:sp>
        <p:nvSpPr>
          <p:cNvPr id="4" name="Slide Number Placeholder 3"/>
          <p:cNvSpPr>
            <a:spLocks noGrp="1"/>
          </p:cNvSpPr>
          <p:nvPr>
            <p:ph type="sldNum" sz="quarter" idx="5"/>
          </p:nvPr>
        </p:nvSpPr>
        <p:spPr/>
        <p:txBody>
          <a:bodyPr/>
          <a:lstStyle/>
          <a:p>
            <a:fld id="{44B87C1F-8E13-4C1B-85BB-E89E2966FB8F}" type="slidenum">
              <a:rPr lang="en-US" smtClean="0"/>
              <a:t>17</a:t>
            </a:fld>
            <a:endParaRPr lang="en-US"/>
          </a:p>
        </p:txBody>
      </p:sp>
    </p:spTree>
    <p:extLst>
      <p:ext uri="{BB962C8B-B14F-4D97-AF65-F5344CB8AC3E}">
        <p14:creationId xmlns:p14="http://schemas.microsoft.com/office/powerpoint/2010/main" val="3559532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after this step, the model would know that “she” refers to the same person as “Alice”</a:t>
            </a:r>
          </a:p>
        </p:txBody>
      </p:sp>
      <p:sp>
        <p:nvSpPr>
          <p:cNvPr id="4" name="Slide Number Placeholder 3"/>
          <p:cNvSpPr>
            <a:spLocks noGrp="1"/>
          </p:cNvSpPr>
          <p:nvPr>
            <p:ph type="sldNum" sz="quarter" idx="5"/>
          </p:nvPr>
        </p:nvSpPr>
        <p:spPr/>
        <p:txBody>
          <a:bodyPr/>
          <a:lstStyle/>
          <a:p>
            <a:fld id="{44B87C1F-8E13-4C1B-85BB-E89E2966FB8F}" type="slidenum">
              <a:rPr lang="en-US" smtClean="0"/>
              <a:t>18</a:t>
            </a:fld>
            <a:endParaRPr lang="en-US"/>
          </a:p>
        </p:txBody>
      </p:sp>
    </p:spTree>
    <p:extLst>
      <p:ext uri="{BB962C8B-B14F-4D97-AF65-F5344CB8AC3E}">
        <p14:creationId xmlns:p14="http://schemas.microsoft.com/office/powerpoint/2010/main" val="518726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coreferences have been resolved step, IE task-specific methods can be applied.</a:t>
            </a:r>
          </a:p>
        </p:txBody>
      </p:sp>
      <p:sp>
        <p:nvSpPr>
          <p:cNvPr id="4" name="Slide Number Placeholder 3"/>
          <p:cNvSpPr>
            <a:spLocks noGrp="1"/>
          </p:cNvSpPr>
          <p:nvPr>
            <p:ph type="sldNum" sz="quarter" idx="5"/>
          </p:nvPr>
        </p:nvSpPr>
        <p:spPr/>
        <p:txBody>
          <a:bodyPr/>
          <a:lstStyle/>
          <a:p>
            <a:fld id="{44B87C1F-8E13-4C1B-85BB-E89E2966FB8F}" type="slidenum">
              <a:rPr lang="en-US" smtClean="0"/>
              <a:t>19</a:t>
            </a:fld>
            <a:endParaRPr lang="en-US"/>
          </a:p>
        </p:txBody>
      </p:sp>
    </p:spTree>
    <p:extLst>
      <p:ext uri="{BB962C8B-B14F-4D97-AF65-F5344CB8AC3E}">
        <p14:creationId xmlns:p14="http://schemas.microsoft.com/office/powerpoint/2010/main" val="1032305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B87C1F-8E13-4C1B-85BB-E89E2966FB8F}" type="slidenum">
              <a:rPr lang="en-US" smtClean="0"/>
              <a:t>20</a:t>
            </a:fld>
            <a:endParaRPr lang="en-US"/>
          </a:p>
        </p:txBody>
      </p:sp>
    </p:spTree>
    <p:extLst>
      <p:ext uri="{BB962C8B-B14F-4D97-AF65-F5344CB8AC3E}">
        <p14:creationId xmlns:p14="http://schemas.microsoft.com/office/powerpoint/2010/main" val="2855780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part of my Junior IS research focused on Sentiment Analysis, which is a Natural Language Processing task that aims to classify the emotional tone behind a piece of text. This might involve a more binary classification of Positive or Negative or more complex categories like Joy, Sadness, or Sarcasm, for example.</a:t>
            </a:r>
          </a:p>
          <a:p>
            <a:r>
              <a:rPr lang="en-US" dirty="0"/>
              <a:t>Businesses might use SA for analyzing product reviews to make informed and profitable business decisions. It is also used across Social Media platforms to track user opinions on political or social issues. </a:t>
            </a:r>
          </a:p>
        </p:txBody>
      </p:sp>
      <p:sp>
        <p:nvSpPr>
          <p:cNvPr id="4" name="Slide Number Placeholder 3"/>
          <p:cNvSpPr>
            <a:spLocks noGrp="1"/>
          </p:cNvSpPr>
          <p:nvPr>
            <p:ph type="sldNum" sz="quarter" idx="5"/>
          </p:nvPr>
        </p:nvSpPr>
        <p:spPr/>
        <p:txBody>
          <a:bodyPr/>
          <a:lstStyle/>
          <a:p>
            <a:fld id="{44B87C1F-8E13-4C1B-85BB-E89E2966FB8F}" type="slidenum">
              <a:rPr lang="en-US" smtClean="0"/>
              <a:t>21</a:t>
            </a:fld>
            <a:endParaRPr lang="en-US"/>
          </a:p>
        </p:txBody>
      </p:sp>
    </p:spTree>
    <p:extLst>
      <p:ext uri="{BB962C8B-B14F-4D97-AF65-F5344CB8AC3E}">
        <p14:creationId xmlns:p14="http://schemas.microsoft.com/office/powerpoint/2010/main" val="1012899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simple model that is used is Lexicon-based, which uses a predefined sentiment word lists to identify sentiment-bearing words and aggregate their scores to determine an overall sentiment</a:t>
            </a:r>
          </a:p>
        </p:txBody>
      </p:sp>
      <p:sp>
        <p:nvSpPr>
          <p:cNvPr id="4" name="Slide Number Placeholder 3"/>
          <p:cNvSpPr>
            <a:spLocks noGrp="1"/>
          </p:cNvSpPr>
          <p:nvPr>
            <p:ph type="sldNum" sz="quarter" idx="5"/>
          </p:nvPr>
        </p:nvSpPr>
        <p:spPr/>
        <p:txBody>
          <a:bodyPr/>
          <a:lstStyle/>
          <a:p>
            <a:fld id="{44B87C1F-8E13-4C1B-85BB-E89E2966FB8F}" type="slidenum">
              <a:rPr lang="en-US" smtClean="0"/>
              <a:t>22</a:t>
            </a:fld>
            <a:endParaRPr lang="en-US"/>
          </a:p>
        </p:txBody>
      </p:sp>
    </p:spTree>
    <p:extLst>
      <p:ext uri="{BB962C8B-B14F-4D97-AF65-F5344CB8AC3E}">
        <p14:creationId xmlns:p14="http://schemas.microsoft.com/office/powerpoint/2010/main" val="1240614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models are also used that utilize weighted feature vectors to determine probability distributions over the categories, like with Maximum Entropy Classifiers or by separating sentiment classes using a linear decision boundary within the feature space, like with linear classifiers.</a:t>
            </a:r>
          </a:p>
        </p:txBody>
      </p:sp>
      <p:sp>
        <p:nvSpPr>
          <p:cNvPr id="4" name="Slide Number Placeholder 3"/>
          <p:cNvSpPr>
            <a:spLocks noGrp="1"/>
          </p:cNvSpPr>
          <p:nvPr>
            <p:ph type="sldNum" sz="quarter" idx="5"/>
          </p:nvPr>
        </p:nvSpPr>
        <p:spPr/>
        <p:txBody>
          <a:bodyPr/>
          <a:lstStyle/>
          <a:p>
            <a:fld id="{44B87C1F-8E13-4C1B-85BB-E89E2966FB8F}" type="slidenum">
              <a:rPr lang="en-US" smtClean="0"/>
              <a:t>24</a:t>
            </a:fld>
            <a:endParaRPr lang="en-US"/>
          </a:p>
        </p:txBody>
      </p:sp>
    </p:spTree>
    <p:extLst>
      <p:ext uri="{BB962C8B-B14F-4D97-AF65-F5344CB8AC3E}">
        <p14:creationId xmlns:p14="http://schemas.microsoft.com/office/powerpoint/2010/main" val="4269185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software component of my Junior IS, I created a journaling website specifically for memories associated with songs. In my own personal life, I feel like the music-memory connection is very unique and strong, and I wanted to create a digital archive that I could add to and revisit in the future. I also added a tagging feature, for tags like emotions or dates, for easy organization and searching. </a:t>
            </a:r>
          </a:p>
        </p:txBody>
      </p:sp>
      <p:sp>
        <p:nvSpPr>
          <p:cNvPr id="4" name="Slide Number Placeholder 3"/>
          <p:cNvSpPr>
            <a:spLocks noGrp="1"/>
          </p:cNvSpPr>
          <p:nvPr>
            <p:ph type="sldNum" sz="quarter" idx="5"/>
          </p:nvPr>
        </p:nvSpPr>
        <p:spPr/>
        <p:txBody>
          <a:bodyPr/>
          <a:lstStyle/>
          <a:p>
            <a:fld id="{44B87C1F-8E13-4C1B-85BB-E89E2966FB8F}" type="slidenum">
              <a:rPr lang="en-US" smtClean="0"/>
              <a:t>25</a:t>
            </a:fld>
            <a:endParaRPr lang="en-US"/>
          </a:p>
        </p:txBody>
      </p:sp>
    </p:spTree>
    <p:extLst>
      <p:ext uri="{BB962C8B-B14F-4D97-AF65-F5344CB8AC3E}">
        <p14:creationId xmlns:p14="http://schemas.microsoft.com/office/powerpoint/2010/main" val="2291827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backend, I used the </a:t>
            </a:r>
            <a:r>
              <a:rPr lang="en-US" dirty="0" err="1"/>
              <a:t>FastAPI</a:t>
            </a:r>
            <a:r>
              <a:rPr lang="en-US" dirty="0"/>
              <a:t> python framework, which is very fast and focuses on asynchronous programming. </a:t>
            </a:r>
          </a:p>
          <a:p>
            <a:r>
              <a:rPr lang="en-US" dirty="0"/>
              <a:t>I also used React for the frontend and PostgreSQL for the database of storing the memories and tags.</a:t>
            </a:r>
          </a:p>
          <a:p>
            <a:r>
              <a:rPr lang="en-US" dirty="0"/>
              <a:t>I only had time to implement Information Extraction in my software, and I ended up using a simple </a:t>
            </a:r>
            <a:r>
              <a:rPr lang="en-US" dirty="0" err="1"/>
              <a:t>KeyBERT</a:t>
            </a:r>
            <a:r>
              <a:rPr lang="en-US" dirty="0"/>
              <a:t> model, which uses BERT embeddings to get a representation of the entire document, and then the model extracts word embeddings and uses a cosine similarity to find the words and phrases most similar to the document itself. </a:t>
            </a:r>
          </a:p>
        </p:txBody>
      </p:sp>
      <p:sp>
        <p:nvSpPr>
          <p:cNvPr id="4" name="Slide Number Placeholder 3"/>
          <p:cNvSpPr>
            <a:spLocks noGrp="1"/>
          </p:cNvSpPr>
          <p:nvPr>
            <p:ph type="sldNum" sz="quarter" idx="5"/>
          </p:nvPr>
        </p:nvSpPr>
        <p:spPr/>
        <p:txBody>
          <a:bodyPr/>
          <a:lstStyle/>
          <a:p>
            <a:fld id="{44B87C1F-8E13-4C1B-85BB-E89E2966FB8F}" type="slidenum">
              <a:rPr lang="en-US" smtClean="0"/>
              <a:t>26</a:t>
            </a:fld>
            <a:endParaRPr lang="en-US"/>
          </a:p>
        </p:txBody>
      </p:sp>
    </p:spTree>
    <p:extLst>
      <p:ext uri="{BB962C8B-B14F-4D97-AF65-F5344CB8AC3E}">
        <p14:creationId xmlns:p14="http://schemas.microsoft.com/office/powerpoint/2010/main" val="1683854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480060" y="1371600"/>
            <a:ext cx="5006340" cy="2951825"/>
          </a:xfrm>
        </p:spPr>
        <p:txBody>
          <a:bodyPr anchor="t">
            <a:normAutofit/>
          </a:bodyPr>
          <a:lstStyle>
            <a:lvl1pPr algn="l">
              <a:defRPr sz="405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480060" y="4584880"/>
            <a:ext cx="5006340" cy="1287887"/>
          </a:xfrm>
        </p:spPr>
        <p:txBody>
          <a:bodyPr anchor="b">
            <a:normAutofit/>
          </a:bodyPr>
          <a:lstStyle>
            <a:lvl1pPr marL="0" indent="0" algn="l">
              <a:lnSpc>
                <a:spcPct val="130000"/>
              </a:lnSpc>
              <a:buNone/>
              <a:defRPr sz="1350" b="1" cap="all" spc="225" baseline="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CAD64C31-27DE-4C44-9962-CCB316A1E871}" type="datetime1">
              <a:rPr lang="en-US" smtClean="0"/>
              <a:t>5/4/2025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77948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8FCD6D6C-0F8E-4AC9-B56A-B824A9E268C5}" type="datetime1">
              <a:rPr lang="en-US" smtClean="0"/>
              <a:t>5/4/2025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lvl1pPr>
              <a:defRPr sz="1600"/>
            </a:lvl1pPr>
          </a:lstStyle>
          <a:p>
            <a:fld id="{70C12960-6E85-460F-B6E3-5B82CB31AF3D}" type="slidenum">
              <a:rPr lang="en-US" smtClean="0"/>
              <a:pPr/>
              <a:t>‹#›</a:t>
            </a:fld>
            <a:endParaRPr lang="en-US" dirty="0"/>
          </a:p>
        </p:txBody>
      </p:sp>
    </p:spTree>
    <p:extLst>
      <p:ext uri="{BB962C8B-B14F-4D97-AF65-F5344CB8AC3E}">
        <p14:creationId xmlns:p14="http://schemas.microsoft.com/office/powerpoint/2010/main" val="390828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9144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480060" y="1291366"/>
            <a:ext cx="6911163" cy="3159974"/>
          </a:xfrm>
        </p:spPr>
        <p:txBody>
          <a:bodyPr anchor="b">
            <a:normAutofit/>
          </a:bodyPr>
          <a:lstStyle>
            <a:lvl1pPr>
              <a:defRPr sz="405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480061" y="5018568"/>
            <a:ext cx="5930309" cy="1073889"/>
          </a:xfrm>
        </p:spPr>
        <p:txBody>
          <a:bodyPr>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9C45D930-31E1-46FF-B100-BAB8FD73D625}" type="datetime1">
              <a:rPr lang="en-US" smtClean="0"/>
              <a:t>5/4/2025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537211" y="4715234"/>
            <a:ext cx="73414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5868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480060" y="2633472"/>
            <a:ext cx="390906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4739196" y="2633472"/>
            <a:ext cx="390906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9EE51C2B-EBA0-471D-B16D-F7015BC48794}" type="datetime1">
              <a:rPr lang="en-US" smtClean="0"/>
              <a:t>5/4/2025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53019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480060" y="1371600"/>
            <a:ext cx="8168197"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480059" y="2311353"/>
            <a:ext cx="3909060" cy="695373"/>
          </a:xfrm>
        </p:spPr>
        <p:txBody>
          <a:bodyPr anchor="b">
            <a:normAutofit/>
          </a:bodyPr>
          <a:lstStyle>
            <a:lvl1pPr marL="0" indent="0">
              <a:buNone/>
              <a:defRPr sz="1350" b="1" cap="all" spc="225"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480059" y="3006725"/>
            <a:ext cx="390906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4739196" y="2311353"/>
            <a:ext cx="3909060" cy="695373"/>
          </a:xfrm>
        </p:spPr>
        <p:txBody>
          <a:bodyPr anchor="b">
            <a:normAutofit/>
          </a:bodyPr>
          <a:lstStyle>
            <a:lvl1pPr marL="0" indent="0">
              <a:buNone/>
              <a:defRPr sz="1350" b="1" cap="all" spc="225"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4739196" y="3006725"/>
            <a:ext cx="390906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93D41C4-8778-4347-986F-2C918901DC44}" type="datetime1">
              <a:rPr lang="en-US" smtClean="0"/>
              <a:t>5/4/2025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1297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AAE1F49D-2987-43E4-9486-B5881ED5E9ED}" type="datetime1">
              <a:rPr lang="en-US" smtClean="0"/>
              <a:t>5/4/2025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36715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9144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86A7123-4D75-4DC4-9D1B-2583F1820FDE}" type="datetime1">
              <a:rPr lang="en-US" smtClean="0"/>
              <a:t>5/4/2025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32343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480060" y="1371601"/>
            <a:ext cx="2894548" cy="1451723"/>
          </a:xfrm>
        </p:spPr>
        <p:txBody>
          <a:bodyPr anchor="t">
            <a:normAutofit/>
          </a:bodyPr>
          <a:lstStyle>
            <a:lvl1pPr>
              <a:defRPr sz="27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3702389" y="1031001"/>
            <a:ext cx="4945868" cy="5166360"/>
          </a:xfrm>
        </p:spPr>
        <p:txBody>
          <a:bodyPr>
            <a:normAutofit/>
          </a:bodyPr>
          <a:lstStyle>
            <a:lvl1pPr>
              <a:defRPr sz="2100"/>
            </a:lvl1pPr>
            <a:lvl2pPr>
              <a:defRPr sz="1800"/>
            </a:lvl2pPr>
            <a:lvl3pPr>
              <a:defRPr sz="1500"/>
            </a:lvl3pPr>
            <a:lvl4pPr>
              <a:defRPr sz="1350"/>
            </a:lvl4pPr>
            <a:lvl5pPr>
              <a:defRPr sz="13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480060" y="2972168"/>
            <a:ext cx="2894548" cy="322682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8E28275A-5E96-43E2-B890-660CDD8A764E}" type="datetime1">
              <a:rPr lang="en-US" smtClean="0"/>
              <a:t>5/4/2025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74080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480060" y="1371601"/>
            <a:ext cx="2894548" cy="1451723"/>
          </a:xfrm>
        </p:spPr>
        <p:txBody>
          <a:bodyPr anchor="t">
            <a:normAutofit/>
          </a:bodyPr>
          <a:lstStyle>
            <a:lvl1pPr>
              <a:defRPr sz="27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3703320" y="1033271"/>
            <a:ext cx="4944618" cy="516636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480060" y="2972168"/>
            <a:ext cx="2894548" cy="3226825"/>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72B352AA-2CB4-496B-9908-CAE72E468A19}" type="datetime1">
              <a:rPr lang="en-US" smtClean="0"/>
              <a:t>5/4/2025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1657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D1620AED-34A5-4752-A32C-AFBC854BA105}" type="datetime1">
              <a:rPr lang="en-US" smtClean="0"/>
              <a:t>5/4/2025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03846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9144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6906915" y="640079"/>
            <a:ext cx="1358830"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480060" y="640080"/>
            <a:ext cx="6309317"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524E7BFF-1409-4A87-B456-BA1B2EB99C0D}" type="datetime1">
              <a:rPr lang="en-US" smtClean="0"/>
              <a:t>5/4/2025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8031758"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2460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480060" y="1371601"/>
            <a:ext cx="8168197"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480060" y="2633472"/>
            <a:ext cx="8168196"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480060" y="6356351"/>
            <a:ext cx="2057400" cy="365125"/>
          </a:xfrm>
          <a:prstGeom prst="rect">
            <a:avLst/>
          </a:prstGeom>
        </p:spPr>
        <p:txBody>
          <a:bodyPr vert="horz" lIns="91440" tIns="45720" rIns="91440" bIns="45720" rtlCol="0" anchor="ctr"/>
          <a:lstStyle>
            <a:lvl1pPr algn="l">
              <a:defRPr sz="675" b="1" cap="all" spc="225" baseline="0">
                <a:solidFill>
                  <a:schemeClr val="tx1"/>
                </a:solidFill>
              </a:defRPr>
            </a:lvl1pPr>
          </a:lstStyle>
          <a:p>
            <a:fld id="{85C5E41E-2DB4-4FDA-8848-026EEEF00908}" type="datetime1">
              <a:rPr lang="en-US" smtClean="0"/>
              <a:t>5/4/2025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5075717" y="6356351"/>
            <a:ext cx="3030280" cy="365125"/>
          </a:xfrm>
          <a:prstGeom prst="rect">
            <a:avLst/>
          </a:prstGeom>
        </p:spPr>
        <p:txBody>
          <a:bodyPr vert="horz" lIns="91440" tIns="45720" rIns="91440" bIns="45720" rtlCol="0" anchor="ctr"/>
          <a:lstStyle>
            <a:lvl1pPr algn="r">
              <a:defRPr sz="675" b="1" cap="all" spc="225"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8105996" y="6356351"/>
            <a:ext cx="542261" cy="365125"/>
          </a:xfrm>
          <a:prstGeom prst="rect">
            <a:avLst/>
          </a:prstGeom>
        </p:spPr>
        <p:txBody>
          <a:bodyPr vert="horz" lIns="91440" tIns="45720" rIns="91440" bIns="45720" rtlCol="0" anchor="ctr"/>
          <a:lstStyle>
            <a:lvl1pPr algn="r">
              <a:defRPr sz="1600" b="1" cap="all" spc="225" baseline="0">
                <a:solidFill>
                  <a:schemeClr val="tx1"/>
                </a:solidFill>
              </a:defRPr>
            </a:lvl1pPr>
          </a:lstStyle>
          <a:p>
            <a:fld id="{70C12960-6E85-460F-B6E3-5B82CB31AF3D}" type="slidenum">
              <a:rPr lang="en-US" smtClean="0"/>
              <a:pPr/>
              <a:t>‹#›</a:t>
            </a:fld>
            <a:endParaRPr lang="en-US" dirty="0"/>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534924" y="1031001"/>
            <a:ext cx="73414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037241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hdr="0" ftr="0" dt="0"/>
  <p:txStyles>
    <p:titleStyle>
      <a:lvl1pPr algn="l" defTabSz="685800" rtl="0" eaLnBrk="1" latinLnBrk="0" hangingPunct="1">
        <a:lnSpc>
          <a:spcPct val="100000"/>
        </a:lnSpc>
        <a:spcBef>
          <a:spcPct val="0"/>
        </a:spcBef>
        <a:buNone/>
        <a:defRPr sz="3000" b="1"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SzPct val="87000"/>
        <a:buFont typeface="Arial" panose="020B0604020202020204" pitchFamily="34" charset="0"/>
        <a:buChar char="•"/>
        <a:defRPr sz="1500" kern="1200">
          <a:solidFill>
            <a:schemeClr val="tx1"/>
          </a:solidFill>
          <a:latin typeface="+mn-lt"/>
          <a:ea typeface="+mn-ea"/>
          <a:cs typeface="+mn-cs"/>
        </a:defRPr>
      </a:lvl1pPr>
      <a:lvl2pPr marL="370332" indent="-171450" algn="l" defTabSz="685800" rtl="0" eaLnBrk="1" latinLnBrk="0" hangingPunct="1">
        <a:lnSpc>
          <a:spcPct val="120000"/>
        </a:lnSpc>
        <a:spcBef>
          <a:spcPts val="375"/>
        </a:spcBef>
        <a:buSzPct val="87000"/>
        <a:buFont typeface="Arial" panose="020B0604020202020204" pitchFamily="34" charset="0"/>
        <a:buChar char="•"/>
        <a:defRPr sz="1350" kern="1200">
          <a:solidFill>
            <a:schemeClr val="tx1"/>
          </a:solidFill>
          <a:latin typeface="+mn-lt"/>
          <a:ea typeface="+mn-ea"/>
          <a:cs typeface="+mn-cs"/>
        </a:defRPr>
      </a:lvl2pPr>
      <a:lvl3pPr marL="548640" indent="-171450" algn="l" defTabSz="685800" rtl="0" eaLnBrk="1" latinLnBrk="0" hangingPunct="1">
        <a:lnSpc>
          <a:spcPct val="120000"/>
        </a:lnSpc>
        <a:spcBef>
          <a:spcPts val="375"/>
        </a:spcBef>
        <a:buSzPct val="87000"/>
        <a:buFont typeface="Arial" panose="020B0604020202020204" pitchFamily="34" charset="0"/>
        <a:buChar char="•"/>
        <a:defRPr sz="1200" kern="1200">
          <a:solidFill>
            <a:schemeClr val="tx1"/>
          </a:solidFill>
          <a:latin typeface="+mn-lt"/>
          <a:ea typeface="+mn-ea"/>
          <a:cs typeface="+mn-cs"/>
        </a:defRPr>
      </a:lvl3pPr>
      <a:lvl4pPr marL="788670" indent="-214313" algn="l" defTabSz="685800" rtl="0" eaLnBrk="1" latinLnBrk="0" hangingPunct="1">
        <a:lnSpc>
          <a:spcPct val="120000"/>
        </a:lnSpc>
        <a:spcBef>
          <a:spcPts val="375"/>
        </a:spcBef>
        <a:buSzPct val="87000"/>
        <a:buFont typeface="Arial" panose="020B0604020202020204" pitchFamily="34" charset="0"/>
        <a:buChar char="•"/>
        <a:defRPr sz="1050" kern="1200">
          <a:solidFill>
            <a:schemeClr val="tx1"/>
          </a:solidFill>
          <a:latin typeface="+mn-lt"/>
          <a:ea typeface="+mn-ea"/>
          <a:cs typeface="+mn-cs"/>
        </a:defRPr>
      </a:lvl4pPr>
      <a:lvl5pPr marL="973836" indent="-171450" algn="l" defTabSz="685800" rtl="0" eaLnBrk="1" latinLnBrk="0" hangingPunct="1">
        <a:lnSpc>
          <a:spcPct val="120000"/>
        </a:lnSpc>
        <a:spcBef>
          <a:spcPts val="375"/>
        </a:spcBef>
        <a:buSzPct val="87000"/>
        <a:buFont typeface="Arial" panose="020B0604020202020204" pitchFamily="34" charset="0"/>
        <a:buChar char="•"/>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D017786B-7BCD-AC74-11DE-6E3E485C02B2}"/>
              </a:ext>
            </a:extLst>
          </p:cNvPr>
          <p:cNvSpPr>
            <a:spLocks noGrp="1"/>
          </p:cNvSpPr>
          <p:nvPr>
            <p:ph type="ctrTitle"/>
          </p:nvPr>
        </p:nvSpPr>
        <p:spPr>
          <a:xfrm>
            <a:off x="480060" y="2006166"/>
            <a:ext cx="3643003" cy="2409953"/>
          </a:xfrm>
        </p:spPr>
        <p:txBody>
          <a:bodyPr>
            <a:normAutofit/>
          </a:bodyPr>
          <a:lstStyle/>
          <a:p>
            <a:pPr>
              <a:lnSpc>
                <a:spcPct val="90000"/>
              </a:lnSpc>
            </a:pPr>
            <a:r>
              <a:rPr lang="en-US" sz="3450" dirty="0"/>
              <a:t>Information Extraction and Sentiment Analysis</a:t>
            </a:r>
          </a:p>
        </p:txBody>
      </p:sp>
      <p:sp>
        <p:nvSpPr>
          <p:cNvPr id="3" name="Subtitle 2">
            <a:extLst>
              <a:ext uri="{FF2B5EF4-FFF2-40B4-BE49-F238E27FC236}">
                <a16:creationId xmlns:a16="http://schemas.microsoft.com/office/drawing/2014/main" id="{BB7ED15B-AB42-6564-EFF8-5E4676C39D1F}"/>
              </a:ext>
            </a:extLst>
          </p:cNvPr>
          <p:cNvSpPr>
            <a:spLocks noGrp="1"/>
          </p:cNvSpPr>
          <p:nvPr>
            <p:ph type="subTitle" idx="1"/>
          </p:nvPr>
        </p:nvSpPr>
        <p:spPr>
          <a:xfrm>
            <a:off x="480060" y="3933161"/>
            <a:ext cx="3502995" cy="965915"/>
          </a:xfrm>
        </p:spPr>
        <p:txBody>
          <a:bodyPr>
            <a:normAutofit/>
          </a:bodyPr>
          <a:lstStyle/>
          <a:p>
            <a:r>
              <a:rPr lang="en-US" dirty="0"/>
              <a:t>Jonathan Rueffer</a:t>
            </a:r>
          </a:p>
        </p:txBody>
      </p:sp>
      <p:cxnSp>
        <p:nvCxnSpPr>
          <p:cNvPr id="11" name="Straight Connector 10">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8539" y="1630501"/>
            <a:ext cx="734147"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 network of dots and lines&#10;&#10;AI-generated content may be incorrect.">
            <a:extLst>
              <a:ext uri="{FF2B5EF4-FFF2-40B4-BE49-F238E27FC236}">
                <a16:creationId xmlns:a16="http://schemas.microsoft.com/office/drawing/2014/main" id="{8052B893-0BE0-65D0-B7F0-F24BAF3FA983}"/>
              </a:ext>
            </a:extLst>
          </p:cNvPr>
          <p:cNvPicPr>
            <a:picLocks noChangeAspect="1"/>
          </p:cNvPicPr>
          <p:nvPr/>
        </p:nvPicPr>
        <p:blipFill>
          <a:blip r:embed="rId2"/>
          <a:srcRect l="2483" r="28088"/>
          <a:stretch/>
        </p:blipFill>
        <p:spPr>
          <a:xfrm>
            <a:off x="4661602" y="0"/>
            <a:ext cx="4482398" cy="6858000"/>
          </a:xfrm>
          <a:prstGeom prst="rect">
            <a:avLst/>
          </a:prstGeom>
        </p:spPr>
      </p:pic>
      <p:sp>
        <p:nvSpPr>
          <p:cNvPr id="5" name="Slide Number Placeholder 4">
            <a:extLst>
              <a:ext uri="{FF2B5EF4-FFF2-40B4-BE49-F238E27FC236}">
                <a16:creationId xmlns:a16="http://schemas.microsoft.com/office/drawing/2014/main" id="{582AED55-23F3-9579-A5AB-78C4DB71F392}"/>
              </a:ext>
            </a:extLst>
          </p:cNvPr>
          <p:cNvSpPr>
            <a:spLocks noGrp="1"/>
          </p:cNvSpPr>
          <p:nvPr>
            <p:ph type="sldNum" sz="quarter" idx="12"/>
          </p:nvPr>
        </p:nvSpPr>
        <p:spPr/>
        <p:txBody>
          <a:bodyPr/>
          <a:lstStyle/>
          <a:p>
            <a:fld id="{70C12960-6E85-460F-B6E3-5B82CB31AF3D}" type="slidenum">
              <a:rPr lang="en-US" smtClean="0"/>
              <a:t>1</a:t>
            </a:fld>
            <a:endParaRPr lang="en-US"/>
          </a:p>
        </p:txBody>
      </p:sp>
    </p:spTree>
    <p:extLst>
      <p:ext uri="{BB962C8B-B14F-4D97-AF65-F5344CB8AC3E}">
        <p14:creationId xmlns:p14="http://schemas.microsoft.com/office/powerpoint/2010/main" val="144241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85AA2-F99A-AC45-EADA-6F840793D053}"/>
              </a:ext>
            </a:extLst>
          </p:cNvPr>
          <p:cNvSpPr>
            <a:spLocks noGrp="1"/>
          </p:cNvSpPr>
          <p:nvPr>
            <p:ph type="title"/>
          </p:nvPr>
        </p:nvSpPr>
        <p:spPr>
          <a:xfrm>
            <a:off x="487901" y="1334082"/>
            <a:ext cx="8168197" cy="822960"/>
          </a:xfrm>
        </p:spPr>
        <p:txBody>
          <a:bodyPr>
            <a:normAutofit/>
          </a:bodyPr>
          <a:lstStyle/>
          <a:p>
            <a:r>
              <a:rPr lang="en-US" sz="3400" dirty="0"/>
              <a:t>Information Extraction (IE)</a:t>
            </a:r>
          </a:p>
        </p:txBody>
      </p:sp>
      <p:sp>
        <p:nvSpPr>
          <p:cNvPr id="10" name="TextBox 9">
            <a:extLst>
              <a:ext uri="{FF2B5EF4-FFF2-40B4-BE49-F238E27FC236}">
                <a16:creationId xmlns:a16="http://schemas.microsoft.com/office/drawing/2014/main" id="{463B43E0-6B60-C147-B63D-E95B55F33928}"/>
              </a:ext>
            </a:extLst>
          </p:cNvPr>
          <p:cNvSpPr txBox="1"/>
          <p:nvPr/>
        </p:nvSpPr>
        <p:spPr>
          <a:xfrm>
            <a:off x="557783" y="2145814"/>
            <a:ext cx="7214617" cy="1107996"/>
          </a:xfrm>
          <a:prstGeom prst="rect">
            <a:avLst/>
          </a:prstGeom>
          <a:noFill/>
        </p:spPr>
        <p:txBody>
          <a:bodyPr wrap="square" rtlCol="0">
            <a:spAutoFit/>
          </a:bodyPr>
          <a:lstStyle/>
          <a:p>
            <a:r>
              <a:rPr lang="en-US" sz="2200" dirty="0"/>
              <a:t>Extracting information from unstructured data (articles, social media posts, etc.)</a:t>
            </a:r>
          </a:p>
          <a:p>
            <a:endParaRPr lang="en-US" sz="2200" dirty="0"/>
          </a:p>
        </p:txBody>
      </p:sp>
      <p:sp>
        <p:nvSpPr>
          <p:cNvPr id="15" name="Slide Number Placeholder 14">
            <a:extLst>
              <a:ext uri="{FF2B5EF4-FFF2-40B4-BE49-F238E27FC236}">
                <a16:creationId xmlns:a16="http://schemas.microsoft.com/office/drawing/2014/main" id="{B493C0E9-D9B4-674E-C4CB-7B96DCEACCD3}"/>
              </a:ext>
            </a:extLst>
          </p:cNvPr>
          <p:cNvSpPr>
            <a:spLocks noGrp="1"/>
          </p:cNvSpPr>
          <p:nvPr>
            <p:ph type="sldNum" sz="quarter" idx="12"/>
          </p:nvPr>
        </p:nvSpPr>
        <p:spPr/>
        <p:txBody>
          <a:bodyPr/>
          <a:lstStyle/>
          <a:p>
            <a:fld id="{70C12960-6E85-460F-B6E3-5B82CB31AF3D}" type="slidenum">
              <a:rPr lang="en-US" smtClean="0"/>
              <a:t>2</a:t>
            </a:fld>
            <a:endParaRPr lang="en-US"/>
          </a:p>
        </p:txBody>
      </p:sp>
    </p:spTree>
    <p:extLst>
      <p:ext uri="{BB962C8B-B14F-4D97-AF65-F5344CB8AC3E}">
        <p14:creationId xmlns:p14="http://schemas.microsoft.com/office/powerpoint/2010/main" val="245168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170A-6AA0-312F-4382-389AEA7BB4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0C9D0-4809-3926-AD27-0BA2E46AA657}"/>
              </a:ext>
            </a:extLst>
          </p:cNvPr>
          <p:cNvSpPr>
            <a:spLocks noGrp="1"/>
          </p:cNvSpPr>
          <p:nvPr>
            <p:ph type="title"/>
          </p:nvPr>
        </p:nvSpPr>
        <p:spPr>
          <a:xfrm>
            <a:off x="487901" y="1334082"/>
            <a:ext cx="8168197" cy="822960"/>
          </a:xfrm>
        </p:spPr>
        <p:txBody>
          <a:bodyPr>
            <a:normAutofit/>
          </a:bodyPr>
          <a:lstStyle/>
          <a:p>
            <a:r>
              <a:rPr lang="en-US" sz="3400" dirty="0"/>
              <a:t>Information Extraction (IE)</a:t>
            </a:r>
          </a:p>
        </p:txBody>
      </p:sp>
      <p:sp>
        <p:nvSpPr>
          <p:cNvPr id="3" name="Content Placeholder 2">
            <a:extLst>
              <a:ext uri="{FF2B5EF4-FFF2-40B4-BE49-F238E27FC236}">
                <a16:creationId xmlns:a16="http://schemas.microsoft.com/office/drawing/2014/main" id="{727BDED2-EA20-CD96-E29D-9FCA02DBF3B1}"/>
              </a:ext>
            </a:extLst>
          </p:cNvPr>
          <p:cNvSpPr>
            <a:spLocks noGrp="1"/>
          </p:cNvSpPr>
          <p:nvPr>
            <p:ph idx="1"/>
          </p:nvPr>
        </p:nvSpPr>
        <p:spPr>
          <a:xfrm>
            <a:off x="557783" y="3311470"/>
            <a:ext cx="3566541" cy="2864992"/>
          </a:xfrm>
        </p:spPr>
        <p:txBody>
          <a:bodyPr>
            <a:noAutofit/>
          </a:bodyPr>
          <a:lstStyle/>
          <a:p>
            <a:pPr>
              <a:lnSpc>
                <a:spcPct val="200000"/>
              </a:lnSpc>
            </a:pPr>
            <a:r>
              <a:rPr lang="en-US" sz="2200" b="1" dirty="0">
                <a:solidFill>
                  <a:srgbClr val="FF0000"/>
                </a:solidFill>
              </a:rPr>
              <a:t>Named Entity Recognition</a:t>
            </a:r>
          </a:p>
        </p:txBody>
      </p:sp>
      <p:sp>
        <p:nvSpPr>
          <p:cNvPr id="6" name="Content Placeholder 2">
            <a:extLst>
              <a:ext uri="{FF2B5EF4-FFF2-40B4-BE49-F238E27FC236}">
                <a16:creationId xmlns:a16="http://schemas.microsoft.com/office/drawing/2014/main" id="{D4609ACA-559A-D517-7752-FB6B7BA73A1D}"/>
              </a:ext>
            </a:extLst>
          </p:cNvPr>
          <p:cNvSpPr txBox="1">
            <a:spLocks/>
          </p:cNvSpPr>
          <p:nvPr/>
        </p:nvSpPr>
        <p:spPr>
          <a:xfrm>
            <a:off x="3585990" y="4612087"/>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50" dirty="0">
              <a:solidFill>
                <a:srgbClr val="0070C0"/>
              </a:solidFill>
            </a:endParaRPr>
          </a:p>
        </p:txBody>
      </p:sp>
      <p:sp>
        <p:nvSpPr>
          <p:cNvPr id="10" name="TextBox 9">
            <a:extLst>
              <a:ext uri="{FF2B5EF4-FFF2-40B4-BE49-F238E27FC236}">
                <a16:creationId xmlns:a16="http://schemas.microsoft.com/office/drawing/2014/main" id="{3FD0D97A-6B2C-5D35-935B-C646110A9FB0}"/>
              </a:ext>
            </a:extLst>
          </p:cNvPr>
          <p:cNvSpPr txBox="1"/>
          <p:nvPr/>
        </p:nvSpPr>
        <p:spPr>
          <a:xfrm>
            <a:off x="557783" y="2145814"/>
            <a:ext cx="7214617" cy="1107996"/>
          </a:xfrm>
          <a:prstGeom prst="rect">
            <a:avLst/>
          </a:prstGeom>
          <a:noFill/>
        </p:spPr>
        <p:txBody>
          <a:bodyPr wrap="square" rtlCol="0">
            <a:spAutoFit/>
          </a:bodyPr>
          <a:lstStyle/>
          <a:p>
            <a:r>
              <a:rPr lang="en-US" sz="2200" dirty="0"/>
              <a:t>Extracting information from unstructured data (articles, social media posts, etc.)</a:t>
            </a:r>
          </a:p>
          <a:p>
            <a:endParaRPr lang="en-US" sz="2200" dirty="0"/>
          </a:p>
        </p:txBody>
      </p:sp>
      <p:sp>
        <p:nvSpPr>
          <p:cNvPr id="8" name="Slide Number Placeholder 7">
            <a:extLst>
              <a:ext uri="{FF2B5EF4-FFF2-40B4-BE49-F238E27FC236}">
                <a16:creationId xmlns:a16="http://schemas.microsoft.com/office/drawing/2014/main" id="{3A3101B6-1A98-8DF0-9198-5D249C7923ED}"/>
              </a:ext>
            </a:extLst>
          </p:cNvPr>
          <p:cNvSpPr>
            <a:spLocks noGrp="1"/>
          </p:cNvSpPr>
          <p:nvPr>
            <p:ph type="sldNum" sz="quarter" idx="12"/>
          </p:nvPr>
        </p:nvSpPr>
        <p:spPr/>
        <p:txBody>
          <a:bodyPr/>
          <a:lstStyle/>
          <a:p>
            <a:fld id="{70C12960-6E85-460F-B6E3-5B82CB31AF3D}" type="slidenum">
              <a:rPr lang="en-US" smtClean="0"/>
              <a:t>3</a:t>
            </a:fld>
            <a:endParaRPr lang="en-US"/>
          </a:p>
        </p:txBody>
      </p:sp>
    </p:spTree>
    <p:extLst>
      <p:ext uri="{BB962C8B-B14F-4D97-AF65-F5344CB8AC3E}">
        <p14:creationId xmlns:p14="http://schemas.microsoft.com/office/powerpoint/2010/main" val="478016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96DBE-EEF2-0DB1-1684-12275C7E0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0806C-8E83-0C9C-9253-6A96BA42AF13}"/>
              </a:ext>
            </a:extLst>
          </p:cNvPr>
          <p:cNvSpPr>
            <a:spLocks noGrp="1"/>
          </p:cNvSpPr>
          <p:nvPr>
            <p:ph type="title"/>
          </p:nvPr>
        </p:nvSpPr>
        <p:spPr>
          <a:xfrm>
            <a:off x="487901" y="1334082"/>
            <a:ext cx="8168197" cy="822960"/>
          </a:xfrm>
        </p:spPr>
        <p:txBody>
          <a:bodyPr>
            <a:normAutofit/>
          </a:bodyPr>
          <a:lstStyle/>
          <a:p>
            <a:r>
              <a:rPr lang="en-US" sz="3400" dirty="0"/>
              <a:t>Information Extraction (IE)</a:t>
            </a:r>
          </a:p>
        </p:txBody>
      </p:sp>
      <p:sp>
        <p:nvSpPr>
          <p:cNvPr id="3" name="Content Placeholder 2">
            <a:extLst>
              <a:ext uri="{FF2B5EF4-FFF2-40B4-BE49-F238E27FC236}">
                <a16:creationId xmlns:a16="http://schemas.microsoft.com/office/drawing/2014/main" id="{0D91EBA5-A52C-30B9-3B21-64E8E69E230B}"/>
              </a:ext>
            </a:extLst>
          </p:cNvPr>
          <p:cNvSpPr>
            <a:spLocks noGrp="1"/>
          </p:cNvSpPr>
          <p:nvPr>
            <p:ph idx="1"/>
          </p:nvPr>
        </p:nvSpPr>
        <p:spPr>
          <a:xfrm>
            <a:off x="557783" y="3311470"/>
            <a:ext cx="3566541" cy="2864992"/>
          </a:xfrm>
        </p:spPr>
        <p:txBody>
          <a:bodyPr>
            <a:noAutofit/>
          </a:bodyPr>
          <a:lstStyle/>
          <a:p>
            <a:pPr>
              <a:lnSpc>
                <a:spcPct val="200000"/>
              </a:lnSpc>
            </a:pPr>
            <a:r>
              <a:rPr lang="en-US" sz="2200" b="1" dirty="0">
                <a:solidFill>
                  <a:srgbClr val="FF0000"/>
                </a:solidFill>
              </a:rPr>
              <a:t>Named Entity Recognition</a:t>
            </a:r>
          </a:p>
        </p:txBody>
      </p:sp>
      <p:sp>
        <p:nvSpPr>
          <p:cNvPr id="4" name="Content Placeholder 2">
            <a:extLst>
              <a:ext uri="{FF2B5EF4-FFF2-40B4-BE49-F238E27FC236}">
                <a16:creationId xmlns:a16="http://schemas.microsoft.com/office/drawing/2014/main" id="{2D1FBCEC-29EF-DF1D-8F0B-C8D07423C399}"/>
              </a:ext>
            </a:extLst>
          </p:cNvPr>
          <p:cNvSpPr txBox="1">
            <a:spLocks/>
          </p:cNvSpPr>
          <p:nvPr/>
        </p:nvSpPr>
        <p:spPr>
          <a:xfrm>
            <a:off x="4346485" y="3535991"/>
            <a:ext cx="5428562" cy="423048"/>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people, locations, or organizations</a:t>
            </a:r>
          </a:p>
        </p:txBody>
      </p:sp>
      <p:sp>
        <p:nvSpPr>
          <p:cNvPr id="6" name="Content Placeholder 2">
            <a:extLst>
              <a:ext uri="{FF2B5EF4-FFF2-40B4-BE49-F238E27FC236}">
                <a16:creationId xmlns:a16="http://schemas.microsoft.com/office/drawing/2014/main" id="{C16B1203-A320-6677-6256-CA3FF3172CB0}"/>
              </a:ext>
            </a:extLst>
          </p:cNvPr>
          <p:cNvSpPr txBox="1">
            <a:spLocks/>
          </p:cNvSpPr>
          <p:nvPr/>
        </p:nvSpPr>
        <p:spPr>
          <a:xfrm>
            <a:off x="3585990" y="4612087"/>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50" dirty="0">
              <a:solidFill>
                <a:srgbClr val="0070C0"/>
              </a:solidFill>
            </a:endParaRPr>
          </a:p>
        </p:txBody>
      </p:sp>
      <p:sp>
        <p:nvSpPr>
          <p:cNvPr id="10" name="TextBox 9">
            <a:extLst>
              <a:ext uri="{FF2B5EF4-FFF2-40B4-BE49-F238E27FC236}">
                <a16:creationId xmlns:a16="http://schemas.microsoft.com/office/drawing/2014/main" id="{F12E6394-51E7-1076-E52D-488F8A4F2F4A}"/>
              </a:ext>
            </a:extLst>
          </p:cNvPr>
          <p:cNvSpPr txBox="1"/>
          <p:nvPr/>
        </p:nvSpPr>
        <p:spPr>
          <a:xfrm>
            <a:off x="557783" y="2145814"/>
            <a:ext cx="7214617" cy="1107996"/>
          </a:xfrm>
          <a:prstGeom prst="rect">
            <a:avLst/>
          </a:prstGeom>
          <a:noFill/>
        </p:spPr>
        <p:txBody>
          <a:bodyPr wrap="square" rtlCol="0">
            <a:spAutoFit/>
          </a:bodyPr>
          <a:lstStyle/>
          <a:p>
            <a:r>
              <a:rPr lang="en-US" sz="2200" dirty="0"/>
              <a:t>Extracting information from unstructured data (articles, social media posts, etc.)</a:t>
            </a:r>
          </a:p>
          <a:p>
            <a:endParaRPr lang="en-US" sz="2200" dirty="0"/>
          </a:p>
        </p:txBody>
      </p:sp>
      <p:sp>
        <p:nvSpPr>
          <p:cNvPr id="8" name="Slide Number Placeholder 7">
            <a:extLst>
              <a:ext uri="{FF2B5EF4-FFF2-40B4-BE49-F238E27FC236}">
                <a16:creationId xmlns:a16="http://schemas.microsoft.com/office/drawing/2014/main" id="{DD512661-C6BC-11A9-CD67-993599C4F2CC}"/>
              </a:ext>
            </a:extLst>
          </p:cNvPr>
          <p:cNvSpPr>
            <a:spLocks noGrp="1"/>
          </p:cNvSpPr>
          <p:nvPr>
            <p:ph type="sldNum" sz="quarter" idx="12"/>
          </p:nvPr>
        </p:nvSpPr>
        <p:spPr/>
        <p:txBody>
          <a:bodyPr/>
          <a:lstStyle/>
          <a:p>
            <a:fld id="{70C12960-6E85-460F-B6E3-5B82CB31AF3D}" type="slidenum">
              <a:rPr lang="en-US" smtClean="0"/>
              <a:t>4</a:t>
            </a:fld>
            <a:endParaRPr lang="en-US"/>
          </a:p>
        </p:txBody>
      </p:sp>
    </p:spTree>
    <p:extLst>
      <p:ext uri="{BB962C8B-B14F-4D97-AF65-F5344CB8AC3E}">
        <p14:creationId xmlns:p14="http://schemas.microsoft.com/office/powerpoint/2010/main" val="4092636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B586D-6756-EE5B-5480-D3F8D2522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757ED-F2B2-8FE3-ACA3-B9982B43D9CB}"/>
              </a:ext>
            </a:extLst>
          </p:cNvPr>
          <p:cNvSpPr>
            <a:spLocks noGrp="1"/>
          </p:cNvSpPr>
          <p:nvPr>
            <p:ph type="title"/>
          </p:nvPr>
        </p:nvSpPr>
        <p:spPr>
          <a:xfrm>
            <a:off x="487901" y="1334082"/>
            <a:ext cx="8168197" cy="822960"/>
          </a:xfrm>
        </p:spPr>
        <p:txBody>
          <a:bodyPr>
            <a:normAutofit/>
          </a:bodyPr>
          <a:lstStyle/>
          <a:p>
            <a:r>
              <a:rPr lang="en-US" sz="3400" dirty="0"/>
              <a:t>Information Extraction (IE)</a:t>
            </a:r>
          </a:p>
        </p:txBody>
      </p:sp>
      <p:sp>
        <p:nvSpPr>
          <p:cNvPr id="3" name="Content Placeholder 2">
            <a:extLst>
              <a:ext uri="{FF2B5EF4-FFF2-40B4-BE49-F238E27FC236}">
                <a16:creationId xmlns:a16="http://schemas.microsoft.com/office/drawing/2014/main" id="{2BAE56FA-1D17-0DF7-B063-614051DE198E}"/>
              </a:ext>
            </a:extLst>
          </p:cNvPr>
          <p:cNvSpPr>
            <a:spLocks noGrp="1"/>
          </p:cNvSpPr>
          <p:nvPr>
            <p:ph idx="1"/>
          </p:nvPr>
        </p:nvSpPr>
        <p:spPr>
          <a:xfrm>
            <a:off x="557783" y="3311470"/>
            <a:ext cx="3566541" cy="2864992"/>
          </a:xfrm>
        </p:spPr>
        <p:txBody>
          <a:bodyPr>
            <a:noAutofit/>
          </a:bodyPr>
          <a:lstStyle/>
          <a:p>
            <a:pPr>
              <a:lnSpc>
                <a:spcPct val="200000"/>
              </a:lnSpc>
            </a:pPr>
            <a:r>
              <a:rPr lang="en-US" sz="2200" b="1" dirty="0">
                <a:solidFill>
                  <a:srgbClr val="FF0000"/>
                </a:solidFill>
              </a:rPr>
              <a:t>Named Entity Recognition</a:t>
            </a:r>
          </a:p>
          <a:p>
            <a:pPr>
              <a:lnSpc>
                <a:spcPct val="200000"/>
              </a:lnSpc>
            </a:pPr>
            <a:r>
              <a:rPr lang="en-US" sz="2200" b="1" dirty="0">
                <a:solidFill>
                  <a:srgbClr val="0070C0"/>
                </a:solidFill>
              </a:rPr>
              <a:t>Relation Extraction</a:t>
            </a:r>
          </a:p>
        </p:txBody>
      </p:sp>
      <p:sp>
        <p:nvSpPr>
          <p:cNvPr id="4" name="Content Placeholder 2">
            <a:extLst>
              <a:ext uri="{FF2B5EF4-FFF2-40B4-BE49-F238E27FC236}">
                <a16:creationId xmlns:a16="http://schemas.microsoft.com/office/drawing/2014/main" id="{154215AD-DA01-10D7-E60A-5BBE29CAA078}"/>
              </a:ext>
            </a:extLst>
          </p:cNvPr>
          <p:cNvSpPr txBox="1">
            <a:spLocks/>
          </p:cNvSpPr>
          <p:nvPr/>
        </p:nvSpPr>
        <p:spPr>
          <a:xfrm>
            <a:off x="4346485" y="3535991"/>
            <a:ext cx="5428562" cy="423048"/>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people, locations, or organizations</a:t>
            </a:r>
          </a:p>
        </p:txBody>
      </p:sp>
      <p:sp>
        <p:nvSpPr>
          <p:cNvPr id="6" name="Content Placeholder 2">
            <a:extLst>
              <a:ext uri="{FF2B5EF4-FFF2-40B4-BE49-F238E27FC236}">
                <a16:creationId xmlns:a16="http://schemas.microsoft.com/office/drawing/2014/main" id="{D7754194-9B94-F348-DE53-E4EB213F644D}"/>
              </a:ext>
            </a:extLst>
          </p:cNvPr>
          <p:cNvSpPr txBox="1">
            <a:spLocks/>
          </p:cNvSpPr>
          <p:nvPr/>
        </p:nvSpPr>
        <p:spPr>
          <a:xfrm>
            <a:off x="3585990" y="4612087"/>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50" dirty="0">
              <a:solidFill>
                <a:srgbClr val="0070C0"/>
              </a:solidFill>
            </a:endParaRPr>
          </a:p>
        </p:txBody>
      </p:sp>
      <p:sp>
        <p:nvSpPr>
          <p:cNvPr id="10" name="TextBox 9">
            <a:extLst>
              <a:ext uri="{FF2B5EF4-FFF2-40B4-BE49-F238E27FC236}">
                <a16:creationId xmlns:a16="http://schemas.microsoft.com/office/drawing/2014/main" id="{1B618FFB-4A68-F359-2897-C1228969BEC6}"/>
              </a:ext>
            </a:extLst>
          </p:cNvPr>
          <p:cNvSpPr txBox="1"/>
          <p:nvPr/>
        </p:nvSpPr>
        <p:spPr>
          <a:xfrm>
            <a:off x="557783" y="2145814"/>
            <a:ext cx="7214617" cy="1107996"/>
          </a:xfrm>
          <a:prstGeom prst="rect">
            <a:avLst/>
          </a:prstGeom>
          <a:noFill/>
        </p:spPr>
        <p:txBody>
          <a:bodyPr wrap="square" rtlCol="0">
            <a:spAutoFit/>
          </a:bodyPr>
          <a:lstStyle/>
          <a:p>
            <a:r>
              <a:rPr lang="en-US" sz="2200" dirty="0"/>
              <a:t>Extracting information from unstructured data (articles, social media posts, etc.)</a:t>
            </a:r>
          </a:p>
          <a:p>
            <a:endParaRPr lang="en-US" sz="2200" dirty="0"/>
          </a:p>
        </p:txBody>
      </p:sp>
      <p:sp>
        <p:nvSpPr>
          <p:cNvPr id="8" name="Slide Number Placeholder 7">
            <a:extLst>
              <a:ext uri="{FF2B5EF4-FFF2-40B4-BE49-F238E27FC236}">
                <a16:creationId xmlns:a16="http://schemas.microsoft.com/office/drawing/2014/main" id="{FFE79955-6BD6-F98A-04B2-CA04648BBC6C}"/>
              </a:ext>
            </a:extLst>
          </p:cNvPr>
          <p:cNvSpPr>
            <a:spLocks noGrp="1"/>
          </p:cNvSpPr>
          <p:nvPr>
            <p:ph type="sldNum" sz="quarter" idx="12"/>
          </p:nvPr>
        </p:nvSpPr>
        <p:spPr/>
        <p:txBody>
          <a:bodyPr/>
          <a:lstStyle/>
          <a:p>
            <a:fld id="{70C12960-6E85-460F-B6E3-5B82CB31AF3D}" type="slidenum">
              <a:rPr lang="en-US" smtClean="0"/>
              <a:t>5</a:t>
            </a:fld>
            <a:endParaRPr lang="en-US"/>
          </a:p>
        </p:txBody>
      </p:sp>
    </p:spTree>
    <p:extLst>
      <p:ext uri="{BB962C8B-B14F-4D97-AF65-F5344CB8AC3E}">
        <p14:creationId xmlns:p14="http://schemas.microsoft.com/office/powerpoint/2010/main" val="2043997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9CD55-218F-D4E2-DEF4-5FDF84FC3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20C63-1BDF-97F2-3B61-964BD394457A}"/>
              </a:ext>
            </a:extLst>
          </p:cNvPr>
          <p:cNvSpPr>
            <a:spLocks noGrp="1"/>
          </p:cNvSpPr>
          <p:nvPr>
            <p:ph type="title"/>
          </p:nvPr>
        </p:nvSpPr>
        <p:spPr>
          <a:xfrm>
            <a:off x="487901" y="1334082"/>
            <a:ext cx="8168197" cy="822960"/>
          </a:xfrm>
        </p:spPr>
        <p:txBody>
          <a:bodyPr>
            <a:normAutofit/>
          </a:bodyPr>
          <a:lstStyle/>
          <a:p>
            <a:r>
              <a:rPr lang="en-US" sz="3400" dirty="0"/>
              <a:t>Information Extraction (IE)</a:t>
            </a:r>
          </a:p>
        </p:txBody>
      </p:sp>
      <p:sp>
        <p:nvSpPr>
          <p:cNvPr id="3" name="Content Placeholder 2">
            <a:extLst>
              <a:ext uri="{FF2B5EF4-FFF2-40B4-BE49-F238E27FC236}">
                <a16:creationId xmlns:a16="http://schemas.microsoft.com/office/drawing/2014/main" id="{BF38FBCA-FD34-A7D1-56DE-300D341B00DA}"/>
              </a:ext>
            </a:extLst>
          </p:cNvPr>
          <p:cNvSpPr>
            <a:spLocks noGrp="1"/>
          </p:cNvSpPr>
          <p:nvPr>
            <p:ph idx="1"/>
          </p:nvPr>
        </p:nvSpPr>
        <p:spPr>
          <a:xfrm>
            <a:off x="557783" y="3311470"/>
            <a:ext cx="3566541" cy="2864992"/>
          </a:xfrm>
        </p:spPr>
        <p:txBody>
          <a:bodyPr>
            <a:noAutofit/>
          </a:bodyPr>
          <a:lstStyle/>
          <a:p>
            <a:pPr>
              <a:lnSpc>
                <a:spcPct val="200000"/>
              </a:lnSpc>
            </a:pPr>
            <a:r>
              <a:rPr lang="en-US" sz="2200" b="1" dirty="0">
                <a:solidFill>
                  <a:srgbClr val="FF0000"/>
                </a:solidFill>
              </a:rPr>
              <a:t>Named Entity Recognition</a:t>
            </a:r>
          </a:p>
          <a:p>
            <a:pPr>
              <a:lnSpc>
                <a:spcPct val="200000"/>
              </a:lnSpc>
            </a:pPr>
            <a:r>
              <a:rPr lang="en-US" sz="2200" b="1" dirty="0">
                <a:solidFill>
                  <a:srgbClr val="0070C0"/>
                </a:solidFill>
              </a:rPr>
              <a:t>Relation Extraction</a:t>
            </a:r>
          </a:p>
        </p:txBody>
      </p:sp>
      <p:sp>
        <p:nvSpPr>
          <p:cNvPr id="4" name="Content Placeholder 2">
            <a:extLst>
              <a:ext uri="{FF2B5EF4-FFF2-40B4-BE49-F238E27FC236}">
                <a16:creationId xmlns:a16="http://schemas.microsoft.com/office/drawing/2014/main" id="{3243260A-7C6F-D287-1B94-B9FD84280F52}"/>
              </a:ext>
            </a:extLst>
          </p:cNvPr>
          <p:cNvSpPr txBox="1">
            <a:spLocks/>
          </p:cNvSpPr>
          <p:nvPr/>
        </p:nvSpPr>
        <p:spPr>
          <a:xfrm>
            <a:off x="4346485" y="3535991"/>
            <a:ext cx="5428562" cy="423048"/>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people, locations, or organizations</a:t>
            </a:r>
          </a:p>
        </p:txBody>
      </p:sp>
      <p:sp>
        <p:nvSpPr>
          <p:cNvPr id="5" name="Content Placeholder 2">
            <a:extLst>
              <a:ext uri="{FF2B5EF4-FFF2-40B4-BE49-F238E27FC236}">
                <a16:creationId xmlns:a16="http://schemas.microsoft.com/office/drawing/2014/main" id="{B6054EDD-9C26-E4B3-2FF3-68ED221C1758}"/>
              </a:ext>
            </a:extLst>
          </p:cNvPr>
          <p:cNvSpPr txBox="1">
            <a:spLocks/>
          </p:cNvSpPr>
          <p:nvPr/>
        </p:nvSpPr>
        <p:spPr>
          <a:xfrm>
            <a:off x="4346485" y="4272797"/>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0070C0"/>
                </a:solidFill>
              </a:rPr>
              <a:t>person X works at company Y</a:t>
            </a:r>
          </a:p>
        </p:txBody>
      </p:sp>
      <p:sp>
        <p:nvSpPr>
          <p:cNvPr id="6" name="Content Placeholder 2">
            <a:extLst>
              <a:ext uri="{FF2B5EF4-FFF2-40B4-BE49-F238E27FC236}">
                <a16:creationId xmlns:a16="http://schemas.microsoft.com/office/drawing/2014/main" id="{3F97EA38-3433-5BF3-7114-E9A47D047417}"/>
              </a:ext>
            </a:extLst>
          </p:cNvPr>
          <p:cNvSpPr txBox="1">
            <a:spLocks/>
          </p:cNvSpPr>
          <p:nvPr/>
        </p:nvSpPr>
        <p:spPr>
          <a:xfrm>
            <a:off x="3585990" y="4612087"/>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50" dirty="0">
              <a:solidFill>
                <a:srgbClr val="0070C0"/>
              </a:solidFill>
            </a:endParaRPr>
          </a:p>
        </p:txBody>
      </p:sp>
      <p:sp>
        <p:nvSpPr>
          <p:cNvPr id="10" name="TextBox 9">
            <a:extLst>
              <a:ext uri="{FF2B5EF4-FFF2-40B4-BE49-F238E27FC236}">
                <a16:creationId xmlns:a16="http://schemas.microsoft.com/office/drawing/2014/main" id="{AF8CAA7D-52F4-825A-762E-CC85A2F1A858}"/>
              </a:ext>
            </a:extLst>
          </p:cNvPr>
          <p:cNvSpPr txBox="1"/>
          <p:nvPr/>
        </p:nvSpPr>
        <p:spPr>
          <a:xfrm>
            <a:off x="557783" y="2145814"/>
            <a:ext cx="7214617" cy="1107996"/>
          </a:xfrm>
          <a:prstGeom prst="rect">
            <a:avLst/>
          </a:prstGeom>
          <a:noFill/>
        </p:spPr>
        <p:txBody>
          <a:bodyPr wrap="square" rtlCol="0">
            <a:spAutoFit/>
          </a:bodyPr>
          <a:lstStyle/>
          <a:p>
            <a:r>
              <a:rPr lang="en-US" sz="2200" dirty="0"/>
              <a:t>Extracting information from unstructured data (articles, social media posts, etc.)</a:t>
            </a:r>
          </a:p>
          <a:p>
            <a:endParaRPr lang="en-US" sz="2200" dirty="0"/>
          </a:p>
        </p:txBody>
      </p:sp>
      <p:sp>
        <p:nvSpPr>
          <p:cNvPr id="8" name="Slide Number Placeholder 7">
            <a:extLst>
              <a:ext uri="{FF2B5EF4-FFF2-40B4-BE49-F238E27FC236}">
                <a16:creationId xmlns:a16="http://schemas.microsoft.com/office/drawing/2014/main" id="{D7161A53-9687-BAE7-478A-B15B3203CD83}"/>
              </a:ext>
            </a:extLst>
          </p:cNvPr>
          <p:cNvSpPr>
            <a:spLocks noGrp="1"/>
          </p:cNvSpPr>
          <p:nvPr>
            <p:ph type="sldNum" sz="quarter" idx="12"/>
          </p:nvPr>
        </p:nvSpPr>
        <p:spPr/>
        <p:txBody>
          <a:bodyPr/>
          <a:lstStyle/>
          <a:p>
            <a:fld id="{70C12960-6E85-460F-B6E3-5B82CB31AF3D}" type="slidenum">
              <a:rPr lang="en-US" smtClean="0"/>
              <a:t>6</a:t>
            </a:fld>
            <a:endParaRPr lang="en-US"/>
          </a:p>
        </p:txBody>
      </p:sp>
    </p:spTree>
    <p:extLst>
      <p:ext uri="{BB962C8B-B14F-4D97-AF65-F5344CB8AC3E}">
        <p14:creationId xmlns:p14="http://schemas.microsoft.com/office/powerpoint/2010/main" val="3979637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0E9D1-5826-8210-4575-F077DB943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5D201-1F03-464E-6DC8-6F28D9821370}"/>
              </a:ext>
            </a:extLst>
          </p:cNvPr>
          <p:cNvSpPr>
            <a:spLocks noGrp="1"/>
          </p:cNvSpPr>
          <p:nvPr>
            <p:ph type="title"/>
          </p:nvPr>
        </p:nvSpPr>
        <p:spPr>
          <a:xfrm>
            <a:off x="487901" y="1334082"/>
            <a:ext cx="8168197" cy="822960"/>
          </a:xfrm>
        </p:spPr>
        <p:txBody>
          <a:bodyPr>
            <a:normAutofit/>
          </a:bodyPr>
          <a:lstStyle/>
          <a:p>
            <a:r>
              <a:rPr lang="en-US" sz="3400" dirty="0"/>
              <a:t>Information Extraction (IE)</a:t>
            </a:r>
          </a:p>
        </p:txBody>
      </p:sp>
      <p:sp>
        <p:nvSpPr>
          <p:cNvPr id="3" name="Content Placeholder 2">
            <a:extLst>
              <a:ext uri="{FF2B5EF4-FFF2-40B4-BE49-F238E27FC236}">
                <a16:creationId xmlns:a16="http://schemas.microsoft.com/office/drawing/2014/main" id="{D9DB0497-FCFB-0025-A749-3F48DF396C07}"/>
              </a:ext>
            </a:extLst>
          </p:cNvPr>
          <p:cNvSpPr>
            <a:spLocks noGrp="1"/>
          </p:cNvSpPr>
          <p:nvPr>
            <p:ph idx="1"/>
          </p:nvPr>
        </p:nvSpPr>
        <p:spPr>
          <a:xfrm>
            <a:off x="557783" y="3311470"/>
            <a:ext cx="3566541" cy="2864992"/>
          </a:xfrm>
        </p:spPr>
        <p:txBody>
          <a:bodyPr>
            <a:noAutofit/>
          </a:bodyPr>
          <a:lstStyle/>
          <a:p>
            <a:pPr>
              <a:lnSpc>
                <a:spcPct val="200000"/>
              </a:lnSpc>
            </a:pPr>
            <a:r>
              <a:rPr lang="en-US" sz="2200" b="1" dirty="0">
                <a:solidFill>
                  <a:srgbClr val="FF0000"/>
                </a:solidFill>
              </a:rPr>
              <a:t>Named Entity Recognition</a:t>
            </a:r>
          </a:p>
          <a:p>
            <a:pPr>
              <a:lnSpc>
                <a:spcPct val="200000"/>
              </a:lnSpc>
            </a:pPr>
            <a:r>
              <a:rPr lang="en-US" sz="2200" b="1" dirty="0">
                <a:solidFill>
                  <a:srgbClr val="0070C0"/>
                </a:solidFill>
              </a:rPr>
              <a:t>Relation Extraction</a:t>
            </a:r>
          </a:p>
          <a:p>
            <a:pPr>
              <a:lnSpc>
                <a:spcPct val="200000"/>
              </a:lnSpc>
            </a:pPr>
            <a:r>
              <a:rPr lang="en-US" sz="2200" b="1" dirty="0">
                <a:solidFill>
                  <a:srgbClr val="00B050"/>
                </a:solidFill>
              </a:rPr>
              <a:t>Event Extraction</a:t>
            </a:r>
          </a:p>
        </p:txBody>
      </p:sp>
      <p:sp>
        <p:nvSpPr>
          <p:cNvPr id="4" name="Content Placeholder 2">
            <a:extLst>
              <a:ext uri="{FF2B5EF4-FFF2-40B4-BE49-F238E27FC236}">
                <a16:creationId xmlns:a16="http://schemas.microsoft.com/office/drawing/2014/main" id="{D64552A6-92CD-2FFF-88F0-33ACF2DD3B22}"/>
              </a:ext>
            </a:extLst>
          </p:cNvPr>
          <p:cNvSpPr txBox="1">
            <a:spLocks/>
          </p:cNvSpPr>
          <p:nvPr/>
        </p:nvSpPr>
        <p:spPr>
          <a:xfrm>
            <a:off x="4346485" y="3535991"/>
            <a:ext cx="5428562" cy="423048"/>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people, locations, or organizations</a:t>
            </a:r>
          </a:p>
        </p:txBody>
      </p:sp>
      <p:sp>
        <p:nvSpPr>
          <p:cNvPr id="5" name="Content Placeholder 2">
            <a:extLst>
              <a:ext uri="{FF2B5EF4-FFF2-40B4-BE49-F238E27FC236}">
                <a16:creationId xmlns:a16="http://schemas.microsoft.com/office/drawing/2014/main" id="{065E71E0-EB7D-66B3-3545-66E33B581988}"/>
              </a:ext>
            </a:extLst>
          </p:cNvPr>
          <p:cNvSpPr txBox="1">
            <a:spLocks/>
          </p:cNvSpPr>
          <p:nvPr/>
        </p:nvSpPr>
        <p:spPr>
          <a:xfrm>
            <a:off x="4346485" y="4272797"/>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0070C0"/>
                </a:solidFill>
              </a:rPr>
              <a:t>person X works at company Y</a:t>
            </a:r>
          </a:p>
        </p:txBody>
      </p:sp>
      <p:sp>
        <p:nvSpPr>
          <p:cNvPr id="6" name="Content Placeholder 2">
            <a:extLst>
              <a:ext uri="{FF2B5EF4-FFF2-40B4-BE49-F238E27FC236}">
                <a16:creationId xmlns:a16="http://schemas.microsoft.com/office/drawing/2014/main" id="{2FEC0DF4-3E88-18A8-20C5-9841E520008F}"/>
              </a:ext>
            </a:extLst>
          </p:cNvPr>
          <p:cNvSpPr txBox="1">
            <a:spLocks/>
          </p:cNvSpPr>
          <p:nvPr/>
        </p:nvSpPr>
        <p:spPr>
          <a:xfrm>
            <a:off x="3585990" y="4612087"/>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50" dirty="0">
              <a:solidFill>
                <a:srgbClr val="0070C0"/>
              </a:solidFill>
            </a:endParaRPr>
          </a:p>
        </p:txBody>
      </p:sp>
      <p:sp>
        <p:nvSpPr>
          <p:cNvPr id="10" name="TextBox 9">
            <a:extLst>
              <a:ext uri="{FF2B5EF4-FFF2-40B4-BE49-F238E27FC236}">
                <a16:creationId xmlns:a16="http://schemas.microsoft.com/office/drawing/2014/main" id="{DCA0CAA2-E22D-8089-E639-F264EDE6D5C6}"/>
              </a:ext>
            </a:extLst>
          </p:cNvPr>
          <p:cNvSpPr txBox="1"/>
          <p:nvPr/>
        </p:nvSpPr>
        <p:spPr>
          <a:xfrm>
            <a:off x="557783" y="2145814"/>
            <a:ext cx="7214617" cy="1107996"/>
          </a:xfrm>
          <a:prstGeom prst="rect">
            <a:avLst/>
          </a:prstGeom>
          <a:noFill/>
        </p:spPr>
        <p:txBody>
          <a:bodyPr wrap="square" rtlCol="0">
            <a:spAutoFit/>
          </a:bodyPr>
          <a:lstStyle/>
          <a:p>
            <a:r>
              <a:rPr lang="en-US" sz="2200" dirty="0"/>
              <a:t>Extracting information from unstructured data (articles, social media posts, etc.)</a:t>
            </a:r>
          </a:p>
          <a:p>
            <a:endParaRPr lang="en-US" sz="2200" dirty="0"/>
          </a:p>
        </p:txBody>
      </p:sp>
      <p:sp>
        <p:nvSpPr>
          <p:cNvPr id="8" name="Slide Number Placeholder 7">
            <a:extLst>
              <a:ext uri="{FF2B5EF4-FFF2-40B4-BE49-F238E27FC236}">
                <a16:creationId xmlns:a16="http://schemas.microsoft.com/office/drawing/2014/main" id="{8978A2DC-5362-C5D3-4D1E-AE738D9F14AE}"/>
              </a:ext>
            </a:extLst>
          </p:cNvPr>
          <p:cNvSpPr>
            <a:spLocks noGrp="1"/>
          </p:cNvSpPr>
          <p:nvPr>
            <p:ph type="sldNum" sz="quarter" idx="12"/>
          </p:nvPr>
        </p:nvSpPr>
        <p:spPr/>
        <p:txBody>
          <a:bodyPr/>
          <a:lstStyle/>
          <a:p>
            <a:fld id="{70C12960-6E85-460F-B6E3-5B82CB31AF3D}" type="slidenum">
              <a:rPr lang="en-US" smtClean="0"/>
              <a:t>7</a:t>
            </a:fld>
            <a:endParaRPr lang="en-US"/>
          </a:p>
        </p:txBody>
      </p:sp>
    </p:spTree>
    <p:extLst>
      <p:ext uri="{BB962C8B-B14F-4D97-AF65-F5344CB8AC3E}">
        <p14:creationId xmlns:p14="http://schemas.microsoft.com/office/powerpoint/2010/main" val="3327232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80C35-20AF-C8AA-3C32-CE3835AC2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C576B-766F-ECA5-945E-31B29B20B017}"/>
              </a:ext>
            </a:extLst>
          </p:cNvPr>
          <p:cNvSpPr>
            <a:spLocks noGrp="1"/>
          </p:cNvSpPr>
          <p:nvPr>
            <p:ph type="title"/>
          </p:nvPr>
        </p:nvSpPr>
        <p:spPr>
          <a:xfrm>
            <a:off x="487901" y="1334082"/>
            <a:ext cx="8168197" cy="822960"/>
          </a:xfrm>
        </p:spPr>
        <p:txBody>
          <a:bodyPr>
            <a:normAutofit/>
          </a:bodyPr>
          <a:lstStyle/>
          <a:p>
            <a:r>
              <a:rPr lang="en-US" sz="3400" dirty="0"/>
              <a:t>Information Extraction (IE)</a:t>
            </a:r>
          </a:p>
        </p:txBody>
      </p:sp>
      <p:sp>
        <p:nvSpPr>
          <p:cNvPr id="3" name="Content Placeholder 2">
            <a:extLst>
              <a:ext uri="{FF2B5EF4-FFF2-40B4-BE49-F238E27FC236}">
                <a16:creationId xmlns:a16="http://schemas.microsoft.com/office/drawing/2014/main" id="{FD2DE052-A944-56F0-F6B3-B2828AA47A5D}"/>
              </a:ext>
            </a:extLst>
          </p:cNvPr>
          <p:cNvSpPr>
            <a:spLocks noGrp="1"/>
          </p:cNvSpPr>
          <p:nvPr>
            <p:ph idx="1"/>
          </p:nvPr>
        </p:nvSpPr>
        <p:spPr>
          <a:xfrm>
            <a:off x="557783" y="3311470"/>
            <a:ext cx="3566541" cy="2864992"/>
          </a:xfrm>
        </p:spPr>
        <p:txBody>
          <a:bodyPr>
            <a:noAutofit/>
          </a:bodyPr>
          <a:lstStyle/>
          <a:p>
            <a:pPr>
              <a:lnSpc>
                <a:spcPct val="200000"/>
              </a:lnSpc>
            </a:pPr>
            <a:r>
              <a:rPr lang="en-US" sz="2200" b="1" dirty="0">
                <a:solidFill>
                  <a:srgbClr val="FF0000"/>
                </a:solidFill>
              </a:rPr>
              <a:t>Named Entity Recognition</a:t>
            </a:r>
          </a:p>
          <a:p>
            <a:pPr>
              <a:lnSpc>
                <a:spcPct val="200000"/>
              </a:lnSpc>
            </a:pPr>
            <a:r>
              <a:rPr lang="en-US" sz="2200" b="1" dirty="0">
                <a:solidFill>
                  <a:srgbClr val="0070C0"/>
                </a:solidFill>
              </a:rPr>
              <a:t>Relation Extraction</a:t>
            </a:r>
          </a:p>
          <a:p>
            <a:pPr>
              <a:lnSpc>
                <a:spcPct val="200000"/>
              </a:lnSpc>
            </a:pPr>
            <a:r>
              <a:rPr lang="en-US" sz="2200" b="1" dirty="0">
                <a:solidFill>
                  <a:srgbClr val="00B050"/>
                </a:solidFill>
              </a:rPr>
              <a:t>Event Extraction</a:t>
            </a:r>
          </a:p>
        </p:txBody>
      </p:sp>
      <p:sp>
        <p:nvSpPr>
          <p:cNvPr id="4" name="Content Placeholder 2">
            <a:extLst>
              <a:ext uri="{FF2B5EF4-FFF2-40B4-BE49-F238E27FC236}">
                <a16:creationId xmlns:a16="http://schemas.microsoft.com/office/drawing/2014/main" id="{3AF983FA-A9EA-2986-A7B5-79B5DF3EF22A}"/>
              </a:ext>
            </a:extLst>
          </p:cNvPr>
          <p:cNvSpPr txBox="1">
            <a:spLocks/>
          </p:cNvSpPr>
          <p:nvPr/>
        </p:nvSpPr>
        <p:spPr>
          <a:xfrm>
            <a:off x="4346485" y="3535991"/>
            <a:ext cx="5428562" cy="423048"/>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people, locations, or organizations</a:t>
            </a:r>
          </a:p>
        </p:txBody>
      </p:sp>
      <p:sp>
        <p:nvSpPr>
          <p:cNvPr id="5" name="Content Placeholder 2">
            <a:extLst>
              <a:ext uri="{FF2B5EF4-FFF2-40B4-BE49-F238E27FC236}">
                <a16:creationId xmlns:a16="http://schemas.microsoft.com/office/drawing/2014/main" id="{E5453618-9CA6-C578-18F7-A2A1171E9102}"/>
              </a:ext>
            </a:extLst>
          </p:cNvPr>
          <p:cNvSpPr txBox="1">
            <a:spLocks/>
          </p:cNvSpPr>
          <p:nvPr/>
        </p:nvSpPr>
        <p:spPr>
          <a:xfrm>
            <a:off x="4346485" y="4272797"/>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0070C0"/>
                </a:solidFill>
              </a:rPr>
              <a:t>person X works at company Y</a:t>
            </a:r>
          </a:p>
        </p:txBody>
      </p:sp>
      <p:sp>
        <p:nvSpPr>
          <p:cNvPr id="6" name="Content Placeholder 2">
            <a:extLst>
              <a:ext uri="{FF2B5EF4-FFF2-40B4-BE49-F238E27FC236}">
                <a16:creationId xmlns:a16="http://schemas.microsoft.com/office/drawing/2014/main" id="{AC030DC0-DA61-C3BA-72FB-8D8534E226DD}"/>
              </a:ext>
            </a:extLst>
          </p:cNvPr>
          <p:cNvSpPr txBox="1">
            <a:spLocks/>
          </p:cNvSpPr>
          <p:nvPr/>
        </p:nvSpPr>
        <p:spPr>
          <a:xfrm>
            <a:off x="3585990" y="4612087"/>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50" dirty="0">
              <a:solidFill>
                <a:srgbClr val="0070C0"/>
              </a:solidFill>
            </a:endParaRPr>
          </a:p>
        </p:txBody>
      </p:sp>
      <p:sp>
        <p:nvSpPr>
          <p:cNvPr id="7" name="Content Placeholder 2">
            <a:extLst>
              <a:ext uri="{FF2B5EF4-FFF2-40B4-BE49-F238E27FC236}">
                <a16:creationId xmlns:a16="http://schemas.microsoft.com/office/drawing/2014/main" id="{2CABB70E-5EF8-4FAB-70AF-792DACF60914}"/>
              </a:ext>
            </a:extLst>
          </p:cNvPr>
          <p:cNvSpPr txBox="1">
            <a:spLocks/>
          </p:cNvSpPr>
          <p:nvPr/>
        </p:nvSpPr>
        <p:spPr>
          <a:xfrm>
            <a:off x="4244853" y="5054984"/>
            <a:ext cx="5428562" cy="719924"/>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00B050"/>
                </a:solidFill>
              </a:rPr>
              <a:t> meetings, promotions</a:t>
            </a:r>
          </a:p>
        </p:txBody>
      </p:sp>
      <p:sp>
        <p:nvSpPr>
          <p:cNvPr id="10" name="TextBox 9">
            <a:extLst>
              <a:ext uri="{FF2B5EF4-FFF2-40B4-BE49-F238E27FC236}">
                <a16:creationId xmlns:a16="http://schemas.microsoft.com/office/drawing/2014/main" id="{F0AF8FA8-7CB2-0D5A-70BC-7B70DBF10047}"/>
              </a:ext>
            </a:extLst>
          </p:cNvPr>
          <p:cNvSpPr txBox="1"/>
          <p:nvPr/>
        </p:nvSpPr>
        <p:spPr>
          <a:xfrm>
            <a:off x="557783" y="2145814"/>
            <a:ext cx="7214617" cy="1107996"/>
          </a:xfrm>
          <a:prstGeom prst="rect">
            <a:avLst/>
          </a:prstGeom>
          <a:noFill/>
        </p:spPr>
        <p:txBody>
          <a:bodyPr wrap="square" rtlCol="0">
            <a:spAutoFit/>
          </a:bodyPr>
          <a:lstStyle/>
          <a:p>
            <a:r>
              <a:rPr lang="en-US" sz="2200" dirty="0"/>
              <a:t>Extracting information from unstructured data (articles, social media posts, etc.)</a:t>
            </a:r>
          </a:p>
          <a:p>
            <a:endParaRPr lang="en-US" sz="2200" dirty="0"/>
          </a:p>
        </p:txBody>
      </p:sp>
      <p:sp>
        <p:nvSpPr>
          <p:cNvPr id="8" name="Slide Number Placeholder 7">
            <a:extLst>
              <a:ext uri="{FF2B5EF4-FFF2-40B4-BE49-F238E27FC236}">
                <a16:creationId xmlns:a16="http://schemas.microsoft.com/office/drawing/2014/main" id="{44F63D64-FA48-5506-4D54-EBF8B8309BE3}"/>
              </a:ext>
            </a:extLst>
          </p:cNvPr>
          <p:cNvSpPr>
            <a:spLocks noGrp="1"/>
          </p:cNvSpPr>
          <p:nvPr>
            <p:ph type="sldNum" sz="quarter" idx="12"/>
          </p:nvPr>
        </p:nvSpPr>
        <p:spPr/>
        <p:txBody>
          <a:bodyPr/>
          <a:lstStyle/>
          <a:p>
            <a:fld id="{70C12960-6E85-460F-B6E3-5B82CB31AF3D}" type="slidenum">
              <a:rPr lang="en-US" smtClean="0"/>
              <a:t>8</a:t>
            </a:fld>
            <a:endParaRPr lang="en-US"/>
          </a:p>
        </p:txBody>
      </p:sp>
    </p:spTree>
    <p:extLst>
      <p:ext uri="{BB962C8B-B14F-4D97-AF65-F5344CB8AC3E}">
        <p14:creationId xmlns:p14="http://schemas.microsoft.com/office/powerpoint/2010/main" val="125077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8F9CF2B3-7214-59AA-4A2E-F45235252C2E}"/>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D7200F-ED80-0C0A-C7DF-5355294293AD}"/>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711B195E-F5FF-680E-8DEB-84DD63ABF46F}"/>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30" name="Slide Number Placeholder 29">
            <a:extLst>
              <a:ext uri="{FF2B5EF4-FFF2-40B4-BE49-F238E27FC236}">
                <a16:creationId xmlns:a16="http://schemas.microsoft.com/office/drawing/2014/main" id="{62D64954-FA66-A0F2-C3EF-9BD7AC019570}"/>
              </a:ext>
            </a:extLst>
          </p:cNvPr>
          <p:cNvSpPr>
            <a:spLocks noGrp="1"/>
          </p:cNvSpPr>
          <p:nvPr>
            <p:ph type="sldNum" sz="quarter" idx="12"/>
          </p:nvPr>
        </p:nvSpPr>
        <p:spPr/>
        <p:txBody>
          <a:bodyPr/>
          <a:lstStyle/>
          <a:p>
            <a:fld id="{70C12960-6E85-460F-B6E3-5B82CB31AF3D}" type="slidenum">
              <a:rPr lang="en-US" smtClean="0"/>
              <a:t>9</a:t>
            </a:fld>
            <a:endParaRPr lang="en-US"/>
          </a:p>
        </p:txBody>
      </p:sp>
    </p:spTree>
    <p:extLst>
      <p:ext uri="{BB962C8B-B14F-4D97-AF65-F5344CB8AC3E}">
        <p14:creationId xmlns:p14="http://schemas.microsoft.com/office/powerpoint/2010/main" val="722175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5BCCA-7DEA-5085-332E-073459F0A09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6606627-9F97-16EE-6515-73AE0628B6D2}"/>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E75C2-41A6-F4A0-2B1E-80A36C489098}"/>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6C7D54E1-189A-41C5-C316-22724893DA47}"/>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29" name="TextBox 28">
            <a:extLst>
              <a:ext uri="{FF2B5EF4-FFF2-40B4-BE49-F238E27FC236}">
                <a16:creationId xmlns:a16="http://schemas.microsoft.com/office/drawing/2014/main" id="{D8B542FB-D583-D2F7-8E37-3554B3540C88}"/>
              </a:ext>
            </a:extLst>
          </p:cNvPr>
          <p:cNvSpPr txBox="1"/>
          <p:nvPr/>
        </p:nvSpPr>
        <p:spPr>
          <a:xfrm>
            <a:off x="176212" y="5486399"/>
            <a:ext cx="8791576" cy="400110"/>
          </a:xfrm>
          <a:prstGeom prst="rect">
            <a:avLst/>
          </a:prstGeom>
          <a:noFill/>
        </p:spPr>
        <p:txBody>
          <a:bodyPr wrap="square" rtlCol="0">
            <a:spAutoFit/>
          </a:bodyPr>
          <a:lstStyle/>
          <a:p>
            <a:pPr algn="ctr"/>
            <a:r>
              <a:rPr lang="en-US" sz="2000" dirty="0"/>
              <a:t>"Alice told her mom that she would join Google after graduation."</a:t>
            </a:r>
          </a:p>
        </p:txBody>
      </p:sp>
      <p:sp>
        <p:nvSpPr>
          <p:cNvPr id="3" name="Slide Number Placeholder 2">
            <a:extLst>
              <a:ext uri="{FF2B5EF4-FFF2-40B4-BE49-F238E27FC236}">
                <a16:creationId xmlns:a16="http://schemas.microsoft.com/office/drawing/2014/main" id="{D637A1C9-419E-AC93-4E6C-D98ED98954BD}"/>
              </a:ext>
            </a:extLst>
          </p:cNvPr>
          <p:cNvSpPr>
            <a:spLocks noGrp="1"/>
          </p:cNvSpPr>
          <p:nvPr>
            <p:ph type="sldNum" sz="quarter" idx="12"/>
          </p:nvPr>
        </p:nvSpPr>
        <p:spPr/>
        <p:txBody>
          <a:bodyPr/>
          <a:lstStyle/>
          <a:p>
            <a:fld id="{70C12960-6E85-460F-B6E3-5B82CB31AF3D}" type="slidenum">
              <a:rPr lang="en-US" smtClean="0"/>
              <a:t>10</a:t>
            </a:fld>
            <a:endParaRPr lang="en-US"/>
          </a:p>
        </p:txBody>
      </p:sp>
    </p:spTree>
    <p:extLst>
      <p:ext uri="{BB962C8B-B14F-4D97-AF65-F5344CB8AC3E}">
        <p14:creationId xmlns:p14="http://schemas.microsoft.com/office/powerpoint/2010/main" val="3273950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89BE-152C-3951-199B-A656A3E7E4E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5336BFD-A42D-2A1B-2CC4-1AC0B8C72013}"/>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50B6D8-56A5-F3A5-6899-B069EAD43753}"/>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9AD23511-2F36-19C7-C51F-85247FA9C88A}"/>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24B8999F-E41B-2810-DD3E-5CC95C405443}"/>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11" name="Rectangle: Rounded Corners 10">
            <a:extLst>
              <a:ext uri="{FF2B5EF4-FFF2-40B4-BE49-F238E27FC236}">
                <a16:creationId xmlns:a16="http://schemas.microsoft.com/office/drawing/2014/main" id="{8887E66C-B21F-E951-2C18-2DBCA9149043}"/>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B2B272FE-8AB7-15B6-DCAE-4DFE2430DF61}"/>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C0B1B3E-8D9F-710D-4485-2993B6075A1E}"/>
              </a:ext>
            </a:extLst>
          </p:cNvPr>
          <p:cNvSpPr txBox="1"/>
          <p:nvPr/>
        </p:nvSpPr>
        <p:spPr>
          <a:xfrm>
            <a:off x="176212" y="5486399"/>
            <a:ext cx="8791576" cy="400110"/>
          </a:xfrm>
          <a:prstGeom prst="rect">
            <a:avLst/>
          </a:prstGeom>
          <a:noFill/>
        </p:spPr>
        <p:txBody>
          <a:bodyPr wrap="square" rtlCol="0">
            <a:spAutoFit/>
          </a:bodyPr>
          <a:lstStyle/>
          <a:p>
            <a:pPr algn="ctr"/>
            <a:r>
              <a:rPr lang="en-US" sz="2000" dirty="0"/>
              <a:t>"Alice told her mom that she would join Google after graduation."</a:t>
            </a:r>
          </a:p>
        </p:txBody>
      </p:sp>
      <p:sp>
        <p:nvSpPr>
          <p:cNvPr id="18" name="Slide Number Placeholder 17">
            <a:extLst>
              <a:ext uri="{FF2B5EF4-FFF2-40B4-BE49-F238E27FC236}">
                <a16:creationId xmlns:a16="http://schemas.microsoft.com/office/drawing/2014/main" id="{0B21C0E5-E471-7FFE-6278-8CF243A48BD4}"/>
              </a:ext>
            </a:extLst>
          </p:cNvPr>
          <p:cNvSpPr>
            <a:spLocks noGrp="1"/>
          </p:cNvSpPr>
          <p:nvPr>
            <p:ph type="sldNum" sz="quarter" idx="12"/>
          </p:nvPr>
        </p:nvSpPr>
        <p:spPr/>
        <p:txBody>
          <a:bodyPr/>
          <a:lstStyle/>
          <a:p>
            <a:fld id="{70C12960-6E85-460F-B6E3-5B82CB31AF3D}" type="slidenum">
              <a:rPr lang="en-US" smtClean="0"/>
              <a:t>11</a:t>
            </a:fld>
            <a:endParaRPr lang="en-US"/>
          </a:p>
        </p:txBody>
      </p:sp>
    </p:spTree>
    <p:extLst>
      <p:ext uri="{BB962C8B-B14F-4D97-AF65-F5344CB8AC3E}">
        <p14:creationId xmlns:p14="http://schemas.microsoft.com/office/powerpoint/2010/main" val="756646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3CC45-D295-4C68-1663-80ED463CBD4B}"/>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78A53552-003A-52DC-75B4-3F68EBD29519}"/>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5770ED-2E10-582D-ABC9-27167DC59CE9}"/>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968FE097-CD4C-B856-DAA1-798C75CF8416}"/>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B63875D7-B143-4C01-53EF-E7D5DF0466EA}"/>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11" name="Rectangle: Rounded Corners 10">
            <a:extLst>
              <a:ext uri="{FF2B5EF4-FFF2-40B4-BE49-F238E27FC236}">
                <a16:creationId xmlns:a16="http://schemas.microsoft.com/office/drawing/2014/main" id="{27257BDB-F535-FE1D-3C9C-F71BCD8D326D}"/>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62F59F17-978F-59B2-6B4E-A1252554D0DD}"/>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4EF93DC-C5BA-0B87-7340-BF8B7C6A9CCC}"/>
              </a:ext>
            </a:extLst>
          </p:cNvPr>
          <p:cNvSpPr txBox="1"/>
          <p:nvPr/>
        </p:nvSpPr>
        <p:spPr>
          <a:xfrm>
            <a:off x="0" y="5486399"/>
            <a:ext cx="9144000" cy="400110"/>
          </a:xfrm>
          <a:prstGeom prst="rect">
            <a:avLst/>
          </a:prstGeom>
          <a:noFill/>
        </p:spPr>
        <p:txBody>
          <a:bodyPr wrap="square" rtlCol="0">
            <a:spAutoFit/>
          </a:bodyPr>
          <a:lstStyle/>
          <a:p>
            <a:pPr algn="ctr"/>
            <a:r>
              <a:rPr lang="en-US" sz="2000" dirty="0"/>
              <a:t>[Alice] [told] [her] [mom] [that] [she] [would] [join] [Google] [after] [graduation]</a:t>
            </a:r>
          </a:p>
        </p:txBody>
      </p:sp>
      <p:sp>
        <p:nvSpPr>
          <p:cNvPr id="6" name="Slide Number Placeholder 5">
            <a:extLst>
              <a:ext uri="{FF2B5EF4-FFF2-40B4-BE49-F238E27FC236}">
                <a16:creationId xmlns:a16="http://schemas.microsoft.com/office/drawing/2014/main" id="{7C582FE9-4BF0-4A09-90B2-AD704897BFDA}"/>
              </a:ext>
            </a:extLst>
          </p:cNvPr>
          <p:cNvSpPr>
            <a:spLocks noGrp="1"/>
          </p:cNvSpPr>
          <p:nvPr>
            <p:ph type="sldNum" sz="quarter" idx="12"/>
          </p:nvPr>
        </p:nvSpPr>
        <p:spPr/>
        <p:txBody>
          <a:bodyPr/>
          <a:lstStyle/>
          <a:p>
            <a:fld id="{70C12960-6E85-460F-B6E3-5B82CB31AF3D}" type="slidenum">
              <a:rPr lang="en-US" smtClean="0"/>
              <a:t>12</a:t>
            </a:fld>
            <a:endParaRPr lang="en-US"/>
          </a:p>
        </p:txBody>
      </p:sp>
    </p:spTree>
    <p:extLst>
      <p:ext uri="{BB962C8B-B14F-4D97-AF65-F5344CB8AC3E}">
        <p14:creationId xmlns:p14="http://schemas.microsoft.com/office/powerpoint/2010/main" val="4105271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9E6A1-59DB-C35A-686E-FCB51A0C67EE}"/>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82656706-A8BC-7EBA-2888-06498193C560}"/>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FBAB2B-1E8C-9F9A-9EDB-28C294CDA7DD}"/>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54053E10-13A4-C3ED-78F1-C9E7390E21FA}"/>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2FE4CF3A-C894-D5A4-5D95-35E11BDD80BA}"/>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6" name="TextBox 5">
            <a:extLst>
              <a:ext uri="{FF2B5EF4-FFF2-40B4-BE49-F238E27FC236}">
                <a16:creationId xmlns:a16="http://schemas.microsoft.com/office/drawing/2014/main" id="{4A7D1E5A-89AA-45EC-A464-6A27A05BEC34}"/>
              </a:ext>
            </a:extLst>
          </p:cNvPr>
          <p:cNvSpPr txBox="1"/>
          <p:nvPr/>
        </p:nvSpPr>
        <p:spPr>
          <a:xfrm>
            <a:off x="2734057" y="2389519"/>
            <a:ext cx="2176272" cy="646331"/>
          </a:xfrm>
          <a:prstGeom prst="rect">
            <a:avLst/>
          </a:prstGeom>
          <a:noFill/>
        </p:spPr>
        <p:txBody>
          <a:bodyPr wrap="square" rtlCol="0">
            <a:spAutoFit/>
          </a:bodyPr>
          <a:lstStyle/>
          <a:p>
            <a:r>
              <a:rPr lang="en-US" dirty="0"/>
              <a:t>Part-of-Speech (POS) Tagging</a:t>
            </a:r>
          </a:p>
        </p:txBody>
      </p:sp>
      <p:sp>
        <p:nvSpPr>
          <p:cNvPr id="11" name="Rectangle: Rounded Corners 10">
            <a:extLst>
              <a:ext uri="{FF2B5EF4-FFF2-40B4-BE49-F238E27FC236}">
                <a16:creationId xmlns:a16="http://schemas.microsoft.com/office/drawing/2014/main" id="{2CA6072C-2351-ACF4-BD1D-1CB6404E2912}"/>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324C10F-9E83-B90E-7EA8-447181C284F7}"/>
              </a:ext>
            </a:extLst>
          </p:cNvPr>
          <p:cNvSpPr/>
          <p:nvPr/>
        </p:nvSpPr>
        <p:spPr>
          <a:xfrm>
            <a:off x="2734056" y="2389518"/>
            <a:ext cx="1709927" cy="715415"/>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D2F2D70A-699A-728A-6951-037176D25D2C}"/>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9D23CE1-2AF0-8E05-9C6C-1161BD15E6D1}"/>
              </a:ext>
            </a:extLst>
          </p:cNvPr>
          <p:cNvCxnSpPr>
            <a:cxnSpLocks/>
          </p:cNvCxnSpPr>
          <p:nvPr/>
        </p:nvCxnSpPr>
        <p:spPr>
          <a:xfrm flipV="1">
            <a:off x="2587752" y="3209573"/>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A6871A2-82FD-8469-5F58-6182F518F200}"/>
              </a:ext>
            </a:extLst>
          </p:cNvPr>
          <p:cNvSpPr txBox="1"/>
          <p:nvPr/>
        </p:nvSpPr>
        <p:spPr>
          <a:xfrm>
            <a:off x="0" y="5486399"/>
            <a:ext cx="9144000" cy="400110"/>
          </a:xfrm>
          <a:prstGeom prst="rect">
            <a:avLst/>
          </a:prstGeom>
          <a:noFill/>
        </p:spPr>
        <p:txBody>
          <a:bodyPr wrap="square" rtlCol="0">
            <a:spAutoFit/>
          </a:bodyPr>
          <a:lstStyle/>
          <a:p>
            <a:pPr algn="ctr"/>
            <a:r>
              <a:rPr lang="en-US" sz="2000" dirty="0"/>
              <a:t>[Alice] [told] [her] [mom] [that] [she] [would] [join] [Google] [after] [graduation]</a:t>
            </a:r>
          </a:p>
        </p:txBody>
      </p:sp>
      <p:sp>
        <p:nvSpPr>
          <p:cNvPr id="22" name="Slide Number Placeholder 21">
            <a:extLst>
              <a:ext uri="{FF2B5EF4-FFF2-40B4-BE49-F238E27FC236}">
                <a16:creationId xmlns:a16="http://schemas.microsoft.com/office/drawing/2014/main" id="{E6DE9788-4940-1417-8C85-FDBB64A93265}"/>
              </a:ext>
            </a:extLst>
          </p:cNvPr>
          <p:cNvSpPr>
            <a:spLocks noGrp="1"/>
          </p:cNvSpPr>
          <p:nvPr>
            <p:ph type="sldNum" sz="quarter" idx="12"/>
          </p:nvPr>
        </p:nvSpPr>
        <p:spPr/>
        <p:txBody>
          <a:bodyPr/>
          <a:lstStyle/>
          <a:p>
            <a:fld id="{70C12960-6E85-460F-B6E3-5B82CB31AF3D}" type="slidenum">
              <a:rPr lang="en-US" smtClean="0"/>
              <a:t>13</a:t>
            </a:fld>
            <a:endParaRPr lang="en-US"/>
          </a:p>
        </p:txBody>
      </p:sp>
    </p:spTree>
    <p:extLst>
      <p:ext uri="{BB962C8B-B14F-4D97-AF65-F5344CB8AC3E}">
        <p14:creationId xmlns:p14="http://schemas.microsoft.com/office/powerpoint/2010/main" val="3551043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62593-BB50-37C2-0966-1993480531D0}"/>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2821C432-C03C-7C5E-0C79-129F2C7FF504}"/>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493608-54F1-17A9-7CB5-F830C3A3E31C}"/>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70072089-6790-8545-399A-D71305F94580}"/>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F790D685-C73B-93F0-711D-8F9279A6104D}"/>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6" name="TextBox 5">
            <a:extLst>
              <a:ext uri="{FF2B5EF4-FFF2-40B4-BE49-F238E27FC236}">
                <a16:creationId xmlns:a16="http://schemas.microsoft.com/office/drawing/2014/main" id="{2B269670-77BA-F6A2-55AA-073DFE58724C}"/>
              </a:ext>
            </a:extLst>
          </p:cNvPr>
          <p:cNvSpPr txBox="1"/>
          <p:nvPr/>
        </p:nvSpPr>
        <p:spPr>
          <a:xfrm>
            <a:off x="2734057" y="2389519"/>
            <a:ext cx="2176272" cy="646331"/>
          </a:xfrm>
          <a:prstGeom prst="rect">
            <a:avLst/>
          </a:prstGeom>
          <a:noFill/>
        </p:spPr>
        <p:txBody>
          <a:bodyPr wrap="square" rtlCol="0">
            <a:spAutoFit/>
          </a:bodyPr>
          <a:lstStyle/>
          <a:p>
            <a:r>
              <a:rPr lang="en-US" dirty="0"/>
              <a:t>Part-of-Speech (POS) Tagging</a:t>
            </a:r>
          </a:p>
        </p:txBody>
      </p:sp>
      <p:sp>
        <p:nvSpPr>
          <p:cNvPr id="11" name="Rectangle: Rounded Corners 10">
            <a:extLst>
              <a:ext uri="{FF2B5EF4-FFF2-40B4-BE49-F238E27FC236}">
                <a16:creationId xmlns:a16="http://schemas.microsoft.com/office/drawing/2014/main" id="{78AC4820-E50D-AE03-A3BA-542B7FFDBBA9}"/>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6F47C3F9-68BE-001D-C4B0-AFAAA71D2789}"/>
              </a:ext>
            </a:extLst>
          </p:cNvPr>
          <p:cNvSpPr/>
          <p:nvPr/>
        </p:nvSpPr>
        <p:spPr>
          <a:xfrm>
            <a:off x="2734056" y="2389518"/>
            <a:ext cx="1709927" cy="715415"/>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42EE1D23-D98B-ECB9-A1AF-8EEB9F0D9BFA}"/>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6FBE688-7D7C-B054-5305-2643984340F7}"/>
              </a:ext>
            </a:extLst>
          </p:cNvPr>
          <p:cNvCxnSpPr>
            <a:cxnSpLocks/>
          </p:cNvCxnSpPr>
          <p:nvPr/>
        </p:nvCxnSpPr>
        <p:spPr>
          <a:xfrm flipV="1">
            <a:off x="2587752" y="3209573"/>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6A57B2A-E834-B6EB-5A12-6673D311E0D6}"/>
              </a:ext>
            </a:extLst>
          </p:cNvPr>
          <p:cNvSpPr txBox="1"/>
          <p:nvPr/>
        </p:nvSpPr>
        <p:spPr>
          <a:xfrm>
            <a:off x="0" y="5486399"/>
            <a:ext cx="9144000" cy="400110"/>
          </a:xfrm>
          <a:prstGeom prst="rect">
            <a:avLst/>
          </a:prstGeom>
          <a:noFill/>
        </p:spPr>
        <p:txBody>
          <a:bodyPr wrap="square" rtlCol="0">
            <a:spAutoFit/>
          </a:bodyPr>
          <a:lstStyle/>
          <a:p>
            <a:pPr algn="ctr"/>
            <a:r>
              <a:rPr lang="en-US" sz="2000" dirty="0">
                <a:solidFill>
                  <a:srgbClr val="FF0000"/>
                </a:solidFill>
              </a:rPr>
              <a:t>[Alice] </a:t>
            </a:r>
            <a:r>
              <a:rPr lang="en-US" sz="2000" dirty="0">
                <a:solidFill>
                  <a:srgbClr val="00B050"/>
                </a:solidFill>
              </a:rPr>
              <a:t>[told] </a:t>
            </a:r>
            <a:r>
              <a:rPr lang="en-US" sz="2000" dirty="0"/>
              <a:t>[her] [mom] [that] </a:t>
            </a:r>
            <a:r>
              <a:rPr lang="en-US" sz="2000" dirty="0">
                <a:solidFill>
                  <a:schemeClr val="accent1"/>
                </a:solidFill>
              </a:rPr>
              <a:t>[she] </a:t>
            </a:r>
            <a:r>
              <a:rPr lang="en-US" sz="2000" dirty="0"/>
              <a:t>[would] </a:t>
            </a:r>
            <a:r>
              <a:rPr lang="en-US" sz="2000" dirty="0">
                <a:solidFill>
                  <a:srgbClr val="00B050"/>
                </a:solidFill>
              </a:rPr>
              <a:t>[join] </a:t>
            </a:r>
            <a:r>
              <a:rPr lang="en-US" sz="2000" dirty="0"/>
              <a:t>[Google] [after] </a:t>
            </a:r>
            <a:r>
              <a:rPr lang="en-US" sz="2000" dirty="0">
                <a:solidFill>
                  <a:srgbClr val="FF0000"/>
                </a:solidFill>
              </a:rPr>
              <a:t>[graduation]</a:t>
            </a:r>
          </a:p>
        </p:txBody>
      </p:sp>
      <p:sp>
        <p:nvSpPr>
          <p:cNvPr id="3" name="TextBox 2">
            <a:extLst>
              <a:ext uri="{FF2B5EF4-FFF2-40B4-BE49-F238E27FC236}">
                <a16:creationId xmlns:a16="http://schemas.microsoft.com/office/drawing/2014/main" id="{3DE30859-C429-E064-1DAD-E37D15A45FA8}"/>
              </a:ext>
            </a:extLst>
          </p:cNvPr>
          <p:cNvSpPr txBox="1"/>
          <p:nvPr/>
        </p:nvSpPr>
        <p:spPr>
          <a:xfrm>
            <a:off x="-7842" y="5922396"/>
            <a:ext cx="9144000" cy="400110"/>
          </a:xfrm>
          <a:prstGeom prst="rect">
            <a:avLst/>
          </a:prstGeom>
          <a:noFill/>
        </p:spPr>
        <p:txBody>
          <a:bodyPr wrap="square" rtlCol="0">
            <a:spAutoFit/>
          </a:bodyPr>
          <a:lstStyle/>
          <a:p>
            <a:r>
              <a:rPr lang="en-US" sz="2000" dirty="0"/>
              <a:t>    </a:t>
            </a:r>
            <a:r>
              <a:rPr lang="en-US" sz="2000" dirty="0">
                <a:solidFill>
                  <a:srgbClr val="FF0000"/>
                </a:solidFill>
              </a:rPr>
              <a:t>Noun </a:t>
            </a:r>
            <a:r>
              <a:rPr lang="en-US" sz="2000" dirty="0"/>
              <a:t>  </a:t>
            </a:r>
            <a:r>
              <a:rPr lang="en-US" sz="2000" dirty="0">
                <a:solidFill>
                  <a:srgbClr val="00B050"/>
                </a:solidFill>
              </a:rPr>
              <a:t>Verb</a:t>
            </a:r>
            <a:r>
              <a:rPr lang="en-US" sz="2000" dirty="0"/>
              <a:t>                           </a:t>
            </a:r>
            <a:r>
              <a:rPr lang="en-US" sz="2000" dirty="0">
                <a:solidFill>
                  <a:schemeClr val="accent1"/>
                </a:solidFill>
              </a:rPr>
              <a:t>Pronoun  </a:t>
            </a:r>
            <a:r>
              <a:rPr lang="en-US" sz="2000" dirty="0"/>
              <a:t>         </a:t>
            </a:r>
            <a:r>
              <a:rPr lang="en-US" sz="2000" dirty="0">
                <a:solidFill>
                  <a:srgbClr val="00B050"/>
                </a:solidFill>
              </a:rPr>
              <a:t>Verb </a:t>
            </a:r>
            <a:r>
              <a:rPr lang="en-US" sz="2000" dirty="0"/>
              <a:t>                              </a:t>
            </a:r>
            <a:r>
              <a:rPr lang="en-US" sz="2000" dirty="0">
                <a:solidFill>
                  <a:srgbClr val="FF0000"/>
                </a:solidFill>
              </a:rPr>
              <a:t>Noun</a:t>
            </a:r>
          </a:p>
        </p:txBody>
      </p:sp>
      <p:sp>
        <p:nvSpPr>
          <p:cNvPr id="7" name="Slide Number Placeholder 6">
            <a:extLst>
              <a:ext uri="{FF2B5EF4-FFF2-40B4-BE49-F238E27FC236}">
                <a16:creationId xmlns:a16="http://schemas.microsoft.com/office/drawing/2014/main" id="{7652F972-1CFC-EA62-67EE-F9FDF4641EEE}"/>
              </a:ext>
            </a:extLst>
          </p:cNvPr>
          <p:cNvSpPr>
            <a:spLocks noGrp="1"/>
          </p:cNvSpPr>
          <p:nvPr>
            <p:ph type="sldNum" sz="quarter" idx="12"/>
          </p:nvPr>
        </p:nvSpPr>
        <p:spPr/>
        <p:txBody>
          <a:bodyPr/>
          <a:lstStyle/>
          <a:p>
            <a:fld id="{70C12960-6E85-460F-B6E3-5B82CB31AF3D}" type="slidenum">
              <a:rPr lang="en-US" smtClean="0"/>
              <a:t>14</a:t>
            </a:fld>
            <a:endParaRPr lang="en-US"/>
          </a:p>
        </p:txBody>
      </p:sp>
    </p:spTree>
    <p:extLst>
      <p:ext uri="{BB962C8B-B14F-4D97-AF65-F5344CB8AC3E}">
        <p14:creationId xmlns:p14="http://schemas.microsoft.com/office/powerpoint/2010/main" val="3266104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D5076-141E-2775-6FD4-A657866C8BDE}"/>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9AB571B7-FCD0-3DDA-6441-1676879F0DA1}"/>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A449E3-45ED-9ECD-BA69-6BDF9E0518F5}"/>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F54A596F-CEEE-19AE-9E93-A71241FD2D89}"/>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20D5D88F-A2C2-4CB9-C2CB-BB8AE759CF9C}"/>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6" name="TextBox 5">
            <a:extLst>
              <a:ext uri="{FF2B5EF4-FFF2-40B4-BE49-F238E27FC236}">
                <a16:creationId xmlns:a16="http://schemas.microsoft.com/office/drawing/2014/main" id="{FEF08CA8-09AF-6384-CF96-A5529619697A}"/>
              </a:ext>
            </a:extLst>
          </p:cNvPr>
          <p:cNvSpPr txBox="1"/>
          <p:nvPr/>
        </p:nvSpPr>
        <p:spPr>
          <a:xfrm>
            <a:off x="2734057" y="2389519"/>
            <a:ext cx="2176272" cy="646331"/>
          </a:xfrm>
          <a:prstGeom prst="rect">
            <a:avLst/>
          </a:prstGeom>
          <a:noFill/>
        </p:spPr>
        <p:txBody>
          <a:bodyPr wrap="square" rtlCol="0">
            <a:spAutoFit/>
          </a:bodyPr>
          <a:lstStyle/>
          <a:p>
            <a:r>
              <a:rPr lang="en-US" dirty="0"/>
              <a:t>Part-of-Speech (POS) Tagging</a:t>
            </a:r>
          </a:p>
        </p:txBody>
      </p:sp>
      <p:sp>
        <p:nvSpPr>
          <p:cNvPr id="7" name="TextBox 6">
            <a:extLst>
              <a:ext uri="{FF2B5EF4-FFF2-40B4-BE49-F238E27FC236}">
                <a16:creationId xmlns:a16="http://schemas.microsoft.com/office/drawing/2014/main" id="{A596DDA3-782F-8896-1B79-39EDF3D7CD80}"/>
              </a:ext>
            </a:extLst>
          </p:cNvPr>
          <p:cNvSpPr txBox="1"/>
          <p:nvPr/>
        </p:nvSpPr>
        <p:spPr>
          <a:xfrm>
            <a:off x="4727448" y="4371154"/>
            <a:ext cx="1627632" cy="369332"/>
          </a:xfrm>
          <a:prstGeom prst="rect">
            <a:avLst/>
          </a:prstGeom>
          <a:noFill/>
        </p:spPr>
        <p:txBody>
          <a:bodyPr wrap="square" rtlCol="0">
            <a:spAutoFit/>
          </a:bodyPr>
          <a:lstStyle/>
          <a:p>
            <a:r>
              <a:rPr lang="en-US" b="1" dirty="0">
                <a:solidFill>
                  <a:srgbClr val="474747"/>
                </a:solidFill>
              </a:rPr>
              <a:t>Name Tagging</a:t>
            </a:r>
          </a:p>
        </p:txBody>
      </p:sp>
      <p:sp>
        <p:nvSpPr>
          <p:cNvPr id="11" name="Rectangle: Rounded Corners 10">
            <a:extLst>
              <a:ext uri="{FF2B5EF4-FFF2-40B4-BE49-F238E27FC236}">
                <a16:creationId xmlns:a16="http://schemas.microsoft.com/office/drawing/2014/main" id="{75695B11-706E-EE20-67FE-0A5AEC208F1C}"/>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C297226C-2CF6-18B1-E561-3E402FE15726}"/>
              </a:ext>
            </a:extLst>
          </p:cNvPr>
          <p:cNvSpPr/>
          <p:nvPr/>
        </p:nvSpPr>
        <p:spPr>
          <a:xfrm>
            <a:off x="2734056" y="2389518"/>
            <a:ext cx="1709927" cy="715415"/>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516A5F-B4A3-2D31-E869-3A7A2DE16847}"/>
              </a:ext>
            </a:extLst>
          </p:cNvPr>
          <p:cNvSpPr/>
          <p:nvPr/>
        </p:nvSpPr>
        <p:spPr>
          <a:xfrm>
            <a:off x="4727447" y="4304507"/>
            <a:ext cx="1581915" cy="57681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11B796C0-87C2-D7A9-3823-238721BBC11B}"/>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5AC0604-E79F-930E-34A0-51C89E5BAC0D}"/>
              </a:ext>
            </a:extLst>
          </p:cNvPr>
          <p:cNvCxnSpPr>
            <a:cxnSpLocks/>
          </p:cNvCxnSpPr>
          <p:nvPr/>
        </p:nvCxnSpPr>
        <p:spPr>
          <a:xfrm flipV="1">
            <a:off x="2587752" y="3209573"/>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AF18891-D22D-F285-651B-89482E14A9ED}"/>
              </a:ext>
            </a:extLst>
          </p:cNvPr>
          <p:cNvCxnSpPr>
            <a:cxnSpLocks/>
          </p:cNvCxnSpPr>
          <p:nvPr/>
        </p:nvCxnSpPr>
        <p:spPr>
          <a:xfrm>
            <a:off x="4057650" y="3241473"/>
            <a:ext cx="861825" cy="9114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9889AF-0DBC-CB1C-121E-52C2385663F7}"/>
              </a:ext>
            </a:extLst>
          </p:cNvPr>
          <p:cNvSpPr txBox="1"/>
          <p:nvPr/>
        </p:nvSpPr>
        <p:spPr>
          <a:xfrm>
            <a:off x="0" y="5486399"/>
            <a:ext cx="9144000" cy="400110"/>
          </a:xfrm>
          <a:prstGeom prst="rect">
            <a:avLst/>
          </a:prstGeom>
          <a:noFill/>
        </p:spPr>
        <p:txBody>
          <a:bodyPr wrap="square" rtlCol="0">
            <a:spAutoFit/>
          </a:bodyPr>
          <a:lstStyle/>
          <a:p>
            <a:pPr algn="ctr"/>
            <a:r>
              <a:rPr lang="en-US" sz="2000" dirty="0">
                <a:solidFill>
                  <a:srgbClr val="FF0000"/>
                </a:solidFill>
              </a:rPr>
              <a:t>[Alice] </a:t>
            </a:r>
            <a:r>
              <a:rPr lang="en-US" sz="2000" dirty="0">
                <a:solidFill>
                  <a:srgbClr val="00B050"/>
                </a:solidFill>
              </a:rPr>
              <a:t>[told] </a:t>
            </a:r>
            <a:r>
              <a:rPr lang="en-US" sz="2000" dirty="0"/>
              <a:t>[her] [mom] [that] </a:t>
            </a:r>
            <a:r>
              <a:rPr lang="en-US" sz="2000" dirty="0">
                <a:solidFill>
                  <a:schemeClr val="accent1"/>
                </a:solidFill>
              </a:rPr>
              <a:t>[she] </a:t>
            </a:r>
            <a:r>
              <a:rPr lang="en-US" sz="2000" dirty="0"/>
              <a:t>[would] </a:t>
            </a:r>
            <a:r>
              <a:rPr lang="en-US" sz="2000" dirty="0">
                <a:solidFill>
                  <a:srgbClr val="00B050"/>
                </a:solidFill>
              </a:rPr>
              <a:t>[join] </a:t>
            </a:r>
            <a:r>
              <a:rPr lang="en-US" sz="2000" dirty="0"/>
              <a:t>[Google] [after] </a:t>
            </a:r>
            <a:r>
              <a:rPr lang="en-US" sz="2000" dirty="0">
                <a:solidFill>
                  <a:srgbClr val="FF0000"/>
                </a:solidFill>
              </a:rPr>
              <a:t>[graduation]</a:t>
            </a:r>
          </a:p>
        </p:txBody>
      </p:sp>
      <p:sp>
        <p:nvSpPr>
          <p:cNvPr id="16" name="TextBox 15">
            <a:extLst>
              <a:ext uri="{FF2B5EF4-FFF2-40B4-BE49-F238E27FC236}">
                <a16:creationId xmlns:a16="http://schemas.microsoft.com/office/drawing/2014/main" id="{38A91E27-835F-74F9-2A1A-48F5FE29CCA0}"/>
              </a:ext>
            </a:extLst>
          </p:cNvPr>
          <p:cNvSpPr txBox="1"/>
          <p:nvPr/>
        </p:nvSpPr>
        <p:spPr>
          <a:xfrm>
            <a:off x="-7842" y="5922396"/>
            <a:ext cx="9144000" cy="400110"/>
          </a:xfrm>
          <a:prstGeom prst="rect">
            <a:avLst/>
          </a:prstGeom>
          <a:noFill/>
        </p:spPr>
        <p:txBody>
          <a:bodyPr wrap="square" rtlCol="0">
            <a:spAutoFit/>
          </a:bodyPr>
          <a:lstStyle/>
          <a:p>
            <a:r>
              <a:rPr lang="en-US" sz="2000" dirty="0"/>
              <a:t>    </a:t>
            </a:r>
            <a:r>
              <a:rPr lang="en-US" sz="2000" dirty="0">
                <a:solidFill>
                  <a:srgbClr val="FF0000"/>
                </a:solidFill>
              </a:rPr>
              <a:t>Noun </a:t>
            </a:r>
            <a:r>
              <a:rPr lang="en-US" sz="2000" dirty="0"/>
              <a:t>  </a:t>
            </a:r>
            <a:r>
              <a:rPr lang="en-US" sz="2000" dirty="0">
                <a:solidFill>
                  <a:srgbClr val="00B050"/>
                </a:solidFill>
              </a:rPr>
              <a:t>Verb</a:t>
            </a:r>
            <a:r>
              <a:rPr lang="en-US" sz="2000" dirty="0"/>
              <a:t>                           </a:t>
            </a:r>
            <a:r>
              <a:rPr lang="en-US" sz="2000" dirty="0">
                <a:solidFill>
                  <a:schemeClr val="accent1"/>
                </a:solidFill>
              </a:rPr>
              <a:t>Pronoun  </a:t>
            </a:r>
            <a:r>
              <a:rPr lang="en-US" sz="2000" dirty="0"/>
              <a:t>         </a:t>
            </a:r>
            <a:r>
              <a:rPr lang="en-US" sz="2000" dirty="0">
                <a:solidFill>
                  <a:srgbClr val="00B050"/>
                </a:solidFill>
              </a:rPr>
              <a:t>Verb </a:t>
            </a:r>
            <a:r>
              <a:rPr lang="en-US" sz="2000" dirty="0"/>
              <a:t>                              </a:t>
            </a:r>
            <a:r>
              <a:rPr lang="en-US" sz="2000" dirty="0">
                <a:solidFill>
                  <a:srgbClr val="FF0000"/>
                </a:solidFill>
              </a:rPr>
              <a:t>Noun</a:t>
            </a:r>
          </a:p>
        </p:txBody>
      </p:sp>
      <p:sp>
        <p:nvSpPr>
          <p:cNvPr id="18" name="Slide Number Placeholder 17">
            <a:extLst>
              <a:ext uri="{FF2B5EF4-FFF2-40B4-BE49-F238E27FC236}">
                <a16:creationId xmlns:a16="http://schemas.microsoft.com/office/drawing/2014/main" id="{C57A4C15-5010-80CC-3CDA-F0AC47E2B4E2}"/>
              </a:ext>
            </a:extLst>
          </p:cNvPr>
          <p:cNvSpPr>
            <a:spLocks noGrp="1"/>
          </p:cNvSpPr>
          <p:nvPr>
            <p:ph type="sldNum" sz="quarter" idx="12"/>
          </p:nvPr>
        </p:nvSpPr>
        <p:spPr/>
        <p:txBody>
          <a:bodyPr/>
          <a:lstStyle/>
          <a:p>
            <a:fld id="{70C12960-6E85-460F-B6E3-5B82CB31AF3D}" type="slidenum">
              <a:rPr lang="en-US" smtClean="0"/>
              <a:t>15</a:t>
            </a:fld>
            <a:endParaRPr lang="en-US"/>
          </a:p>
        </p:txBody>
      </p:sp>
    </p:spTree>
    <p:extLst>
      <p:ext uri="{BB962C8B-B14F-4D97-AF65-F5344CB8AC3E}">
        <p14:creationId xmlns:p14="http://schemas.microsoft.com/office/powerpoint/2010/main" val="848551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CB677-A8FB-D11F-D5EC-2BEBCA754680}"/>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36ABA82D-22CE-C495-FC64-0546D2C93EB9}"/>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7D2301-F25A-255A-CAEE-1F883C0F2B1B}"/>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4AD11DF1-ABEC-B21E-C887-5E031502EA97}"/>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D691E458-6FFD-DDC1-302B-D2698727D4E2}"/>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6" name="TextBox 5">
            <a:extLst>
              <a:ext uri="{FF2B5EF4-FFF2-40B4-BE49-F238E27FC236}">
                <a16:creationId xmlns:a16="http://schemas.microsoft.com/office/drawing/2014/main" id="{F62F5321-04A4-87B1-FC9F-EDAD630AC78E}"/>
              </a:ext>
            </a:extLst>
          </p:cNvPr>
          <p:cNvSpPr txBox="1"/>
          <p:nvPr/>
        </p:nvSpPr>
        <p:spPr>
          <a:xfrm>
            <a:off x="2734057" y="2389519"/>
            <a:ext cx="2176272" cy="646331"/>
          </a:xfrm>
          <a:prstGeom prst="rect">
            <a:avLst/>
          </a:prstGeom>
          <a:noFill/>
        </p:spPr>
        <p:txBody>
          <a:bodyPr wrap="square" rtlCol="0">
            <a:spAutoFit/>
          </a:bodyPr>
          <a:lstStyle/>
          <a:p>
            <a:r>
              <a:rPr lang="en-US" dirty="0"/>
              <a:t>Part-of-Speech (POS) Tagging</a:t>
            </a:r>
          </a:p>
        </p:txBody>
      </p:sp>
      <p:sp>
        <p:nvSpPr>
          <p:cNvPr id="7" name="TextBox 6">
            <a:extLst>
              <a:ext uri="{FF2B5EF4-FFF2-40B4-BE49-F238E27FC236}">
                <a16:creationId xmlns:a16="http://schemas.microsoft.com/office/drawing/2014/main" id="{1292DA4C-6D8D-F978-0CC4-6A1D65BE1CF4}"/>
              </a:ext>
            </a:extLst>
          </p:cNvPr>
          <p:cNvSpPr txBox="1"/>
          <p:nvPr/>
        </p:nvSpPr>
        <p:spPr>
          <a:xfrm>
            <a:off x="4727448" y="4371154"/>
            <a:ext cx="1627632" cy="369332"/>
          </a:xfrm>
          <a:prstGeom prst="rect">
            <a:avLst/>
          </a:prstGeom>
          <a:noFill/>
        </p:spPr>
        <p:txBody>
          <a:bodyPr wrap="square" rtlCol="0">
            <a:spAutoFit/>
          </a:bodyPr>
          <a:lstStyle/>
          <a:p>
            <a:r>
              <a:rPr lang="en-US" b="1" dirty="0">
                <a:solidFill>
                  <a:srgbClr val="474747"/>
                </a:solidFill>
              </a:rPr>
              <a:t>Name Tagging</a:t>
            </a:r>
          </a:p>
        </p:txBody>
      </p:sp>
      <p:sp>
        <p:nvSpPr>
          <p:cNvPr id="11" name="Rectangle: Rounded Corners 10">
            <a:extLst>
              <a:ext uri="{FF2B5EF4-FFF2-40B4-BE49-F238E27FC236}">
                <a16:creationId xmlns:a16="http://schemas.microsoft.com/office/drawing/2014/main" id="{EB98100F-BD23-DFEC-394B-83544883B157}"/>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81B48011-0711-971E-9CF3-8BC81FC1F7DF}"/>
              </a:ext>
            </a:extLst>
          </p:cNvPr>
          <p:cNvSpPr/>
          <p:nvPr/>
        </p:nvSpPr>
        <p:spPr>
          <a:xfrm>
            <a:off x="2734056" y="2389518"/>
            <a:ext cx="1709927" cy="715415"/>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495C945-F4B3-0199-63F3-E2EC4407C033}"/>
              </a:ext>
            </a:extLst>
          </p:cNvPr>
          <p:cNvSpPr/>
          <p:nvPr/>
        </p:nvSpPr>
        <p:spPr>
          <a:xfrm>
            <a:off x="4727447" y="4304507"/>
            <a:ext cx="1581915" cy="57681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32F4D08E-AE74-4F45-90CA-179041E856A7}"/>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87F3076-F226-9744-5478-BF1374E31419}"/>
              </a:ext>
            </a:extLst>
          </p:cNvPr>
          <p:cNvCxnSpPr>
            <a:cxnSpLocks/>
          </p:cNvCxnSpPr>
          <p:nvPr/>
        </p:nvCxnSpPr>
        <p:spPr>
          <a:xfrm flipV="1">
            <a:off x="2587752" y="3209573"/>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C53CD77-1357-A65A-B660-91EA5662E5F2}"/>
              </a:ext>
            </a:extLst>
          </p:cNvPr>
          <p:cNvCxnSpPr>
            <a:cxnSpLocks/>
          </p:cNvCxnSpPr>
          <p:nvPr/>
        </p:nvCxnSpPr>
        <p:spPr>
          <a:xfrm>
            <a:off x="4057650" y="3241473"/>
            <a:ext cx="861825" cy="9114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9BA976E-E012-6841-D15F-34CD6D66B45A}"/>
              </a:ext>
            </a:extLst>
          </p:cNvPr>
          <p:cNvSpPr txBox="1"/>
          <p:nvPr/>
        </p:nvSpPr>
        <p:spPr>
          <a:xfrm>
            <a:off x="0" y="5486399"/>
            <a:ext cx="9144000" cy="400110"/>
          </a:xfrm>
          <a:prstGeom prst="rect">
            <a:avLst/>
          </a:prstGeom>
          <a:noFill/>
        </p:spPr>
        <p:txBody>
          <a:bodyPr wrap="square" rtlCol="0">
            <a:spAutoFit/>
          </a:bodyPr>
          <a:lstStyle/>
          <a:p>
            <a:pPr algn="ctr"/>
            <a:r>
              <a:rPr lang="en-US" sz="2000" dirty="0">
                <a:solidFill>
                  <a:srgbClr val="FF0000"/>
                </a:solidFill>
              </a:rPr>
              <a:t>[Alice] </a:t>
            </a:r>
            <a:r>
              <a:rPr lang="en-US" sz="2000" dirty="0">
                <a:solidFill>
                  <a:srgbClr val="00B050"/>
                </a:solidFill>
              </a:rPr>
              <a:t>[told] </a:t>
            </a:r>
            <a:r>
              <a:rPr lang="en-US" sz="2000" dirty="0"/>
              <a:t>[her] [mom] [that] </a:t>
            </a:r>
            <a:r>
              <a:rPr lang="en-US" sz="2000" dirty="0">
                <a:solidFill>
                  <a:schemeClr val="accent1"/>
                </a:solidFill>
              </a:rPr>
              <a:t>[she] </a:t>
            </a:r>
            <a:r>
              <a:rPr lang="en-US" sz="2000" dirty="0"/>
              <a:t>[would] </a:t>
            </a:r>
            <a:r>
              <a:rPr lang="en-US" sz="2000" dirty="0">
                <a:solidFill>
                  <a:srgbClr val="00B050"/>
                </a:solidFill>
              </a:rPr>
              <a:t>[join] </a:t>
            </a:r>
            <a:r>
              <a:rPr lang="en-US" sz="2000" dirty="0"/>
              <a:t>[Google] [after] </a:t>
            </a:r>
            <a:r>
              <a:rPr lang="en-US" sz="2000" dirty="0">
                <a:solidFill>
                  <a:srgbClr val="FF0000"/>
                </a:solidFill>
              </a:rPr>
              <a:t>[graduation]</a:t>
            </a:r>
          </a:p>
        </p:txBody>
      </p:sp>
      <p:sp>
        <p:nvSpPr>
          <p:cNvPr id="16" name="TextBox 15">
            <a:extLst>
              <a:ext uri="{FF2B5EF4-FFF2-40B4-BE49-F238E27FC236}">
                <a16:creationId xmlns:a16="http://schemas.microsoft.com/office/drawing/2014/main" id="{E8CC37B5-FABE-0656-8735-A8035D655647}"/>
              </a:ext>
            </a:extLst>
          </p:cNvPr>
          <p:cNvSpPr txBox="1"/>
          <p:nvPr/>
        </p:nvSpPr>
        <p:spPr>
          <a:xfrm>
            <a:off x="-7842" y="5922396"/>
            <a:ext cx="9144000" cy="400110"/>
          </a:xfrm>
          <a:prstGeom prst="rect">
            <a:avLst/>
          </a:prstGeom>
          <a:noFill/>
        </p:spPr>
        <p:txBody>
          <a:bodyPr wrap="square" rtlCol="0">
            <a:spAutoFit/>
          </a:bodyPr>
          <a:lstStyle/>
          <a:p>
            <a:r>
              <a:rPr lang="en-US" sz="2000" dirty="0"/>
              <a:t>    </a:t>
            </a:r>
            <a:r>
              <a:rPr lang="en-US" sz="2000" dirty="0">
                <a:solidFill>
                  <a:srgbClr val="FF0000"/>
                </a:solidFill>
              </a:rPr>
              <a:t>Noun </a:t>
            </a:r>
            <a:r>
              <a:rPr lang="en-US" sz="2000" dirty="0"/>
              <a:t>  </a:t>
            </a:r>
            <a:r>
              <a:rPr lang="en-US" sz="2000" dirty="0">
                <a:solidFill>
                  <a:srgbClr val="00B050"/>
                </a:solidFill>
              </a:rPr>
              <a:t>Verb</a:t>
            </a:r>
            <a:r>
              <a:rPr lang="en-US" sz="2000" dirty="0"/>
              <a:t>                           </a:t>
            </a:r>
            <a:r>
              <a:rPr lang="en-US" sz="2000" dirty="0">
                <a:solidFill>
                  <a:schemeClr val="accent1"/>
                </a:solidFill>
              </a:rPr>
              <a:t>Pronoun  </a:t>
            </a:r>
            <a:r>
              <a:rPr lang="en-US" sz="2000" dirty="0"/>
              <a:t>         </a:t>
            </a:r>
            <a:r>
              <a:rPr lang="en-US" sz="2000" dirty="0">
                <a:solidFill>
                  <a:srgbClr val="00B050"/>
                </a:solidFill>
              </a:rPr>
              <a:t>Verb </a:t>
            </a:r>
            <a:r>
              <a:rPr lang="en-US" sz="2000" dirty="0"/>
              <a:t>                              </a:t>
            </a:r>
            <a:r>
              <a:rPr lang="en-US" sz="2000" dirty="0">
                <a:solidFill>
                  <a:srgbClr val="FF0000"/>
                </a:solidFill>
              </a:rPr>
              <a:t>Noun</a:t>
            </a:r>
          </a:p>
        </p:txBody>
      </p:sp>
      <p:sp>
        <p:nvSpPr>
          <p:cNvPr id="8" name="TextBox 7">
            <a:extLst>
              <a:ext uri="{FF2B5EF4-FFF2-40B4-BE49-F238E27FC236}">
                <a16:creationId xmlns:a16="http://schemas.microsoft.com/office/drawing/2014/main" id="{8584A08A-EFEA-4F53-2B9E-1E9689342661}"/>
              </a:ext>
            </a:extLst>
          </p:cNvPr>
          <p:cNvSpPr txBox="1"/>
          <p:nvPr/>
        </p:nvSpPr>
        <p:spPr>
          <a:xfrm>
            <a:off x="-7842" y="5065145"/>
            <a:ext cx="9144000" cy="400110"/>
          </a:xfrm>
          <a:prstGeom prst="rect">
            <a:avLst/>
          </a:prstGeom>
          <a:noFill/>
        </p:spPr>
        <p:txBody>
          <a:bodyPr wrap="square" rtlCol="0">
            <a:spAutoFit/>
          </a:bodyPr>
          <a:lstStyle/>
          <a:p>
            <a:r>
              <a:rPr lang="en-US" sz="2000" dirty="0"/>
              <a:t>  [PERSON]                                                           [ORGANIZATION]    </a:t>
            </a:r>
          </a:p>
        </p:txBody>
      </p:sp>
      <p:sp>
        <p:nvSpPr>
          <p:cNvPr id="9" name="Slide Number Placeholder 8">
            <a:extLst>
              <a:ext uri="{FF2B5EF4-FFF2-40B4-BE49-F238E27FC236}">
                <a16:creationId xmlns:a16="http://schemas.microsoft.com/office/drawing/2014/main" id="{66E1E28E-7FF3-0D01-D729-A196E41DCD64}"/>
              </a:ext>
            </a:extLst>
          </p:cNvPr>
          <p:cNvSpPr>
            <a:spLocks noGrp="1"/>
          </p:cNvSpPr>
          <p:nvPr>
            <p:ph type="sldNum" sz="quarter" idx="12"/>
          </p:nvPr>
        </p:nvSpPr>
        <p:spPr/>
        <p:txBody>
          <a:bodyPr/>
          <a:lstStyle/>
          <a:p>
            <a:fld id="{70C12960-6E85-460F-B6E3-5B82CB31AF3D}" type="slidenum">
              <a:rPr lang="en-US" smtClean="0"/>
              <a:t>16</a:t>
            </a:fld>
            <a:endParaRPr lang="en-US"/>
          </a:p>
        </p:txBody>
      </p:sp>
    </p:spTree>
    <p:extLst>
      <p:ext uri="{BB962C8B-B14F-4D97-AF65-F5344CB8AC3E}">
        <p14:creationId xmlns:p14="http://schemas.microsoft.com/office/powerpoint/2010/main" val="260588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72260-1230-DBB9-2C51-7074378B668C}"/>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08E9A21-EF32-626A-9684-C02A80809318}"/>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6FC3BB-955C-04F0-7CB3-E3BED6B15097}"/>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3F12553A-DAC5-AA24-3201-F1CC03FF6496}"/>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47864A7D-4911-735E-74B5-11D1A00D76AA}"/>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6" name="TextBox 5">
            <a:extLst>
              <a:ext uri="{FF2B5EF4-FFF2-40B4-BE49-F238E27FC236}">
                <a16:creationId xmlns:a16="http://schemas.microsoft.com/office/drawing/2014/main" id="{DE17A924-198F-D320-D7FC-02904EEBEB13}"/>
              </a:ext>
            </a:extLst>
          </p:cNvPr>
          <p:cNvSpPr txBox="1"/>
          <p:nvPr/>
        </p:nvSpPr>
        <p:spPr>
          <a:xfrm>
            <a:off x="2734057" y="2389519"/>
            <a:ext cx="2176272" cy="646331"/>
          </a:xfrm>
          <a:prstGeom prst="rect">
            <a:avLst/>
          </a:prstGeom>
          <a:noFill/>
        </p:spPr>
        <p:txBody>
          <a:bodyPr wrap="square" rtlCol="0">
            <a:spAutoFit/>
          </a:bodyPr>
          <a:lstStyle/>
          <a:p>
            <a:r>
              <a:rPr lang="en-US" dirty="0"/>
              <a:t>Part-of-Speech (POS) Tagging</a:t>
            </a:r>
          </a:p>
        </p:txBody>
      </p:sp>
      <p:sp>
        <p:nvSpPr>
          <p:cNvPr id="7" name="TextBox 6">
            <a:extLst>
              <a:ext uri="{FF2B5EF4-FFF2-40B4-BE49-F238E27FC236}">
                <a16:creationId xmlns:a16="http://schemas.microsoft.com/office/drawing/2014/main" id="{00E5E07C-A913-F4BD-389F-55DC829B4912}"/>
              </a:ext>
            </a:extLst>
          </p:cNvPr>
          <p:cNvSpPr txBox="1"/>
          <p:nvPr/>
        </p:nvSpPr>
        <p:spPr>
          <a:xfrm>
            <a:off x="4727448" y="4371154"/>
            <a:ext cx="1627632" cy="369332"/>
          </a:xfrm>
          <a:prstGeom prst="rect">
            <a:avLst/>
          </a:prstGeom>
          <a:noFill/>
        </p:spPr>
        <p:txBody>
          <a:bodyPr wrap="square" rtlCol="0">
            <a:spAutoFit/>
          </a:bodyPr>
          <a:lstStyle/>
          <a:p>
            <a:r>
              <a:rPr lang="en-US" b="1" dirty="0">
                <a:solidFill>
                  <a:srgbClr val="474747"/>
                </a:solidFill>
              </a:rPr>
              <a:t>Name Tagging</a:t>
            </a:r>
          </a:p>
        </p:txBody>
      </p:sp>
      <p:sp>
        <p:nvSpPr>
          <p:cNvPr id="8" name="TextBox 7">
            <a:extLst>
              <a:ext uri="{FF2B5EF4-FFF2-40B4-BE49-F238E27FC236}">
                <a16:creationId xmlns:a16="http://schemas.microsoft.com/office/drawing/2014/main" id="{3E8ECBFA-AA42-39B1-7E48-179DC5D204C0}"/>
              </a:ext>
            </a:extLst>
          </p:cNvPr>
          <p:cNvSpPr txBox="1"/>
          <p:nvPr/>
        </p:nvSpPr>
        <p:spPr>
          <a:xfrm>
            <a:off x="5724144" y="2392199"/>
            <a:ext cx="2057400" cy="646331"/>
          </a:xfrm>
          <a:prstGeom prst="rect">
            <a:avLst/>
          </a:prstGeom>
          <a:noFill/>
        </p:spPr>
        <p:txBody>
          <a:bodyPr wrap="square" rtlCol="0">
            <a:spAutoFit/>
          </a:bodyPr>
          <a:lstStyle/>
          <a:p>
            <a:r>
              <a:rPr lang="en-US" dirty="0"/>
              <a:t>Coreference Resolving</a:t>
            </a:r>
          </a:p>
        </p:txBody>
      </p:sp>
      <p:sp>
        <p:nvSpPr>
          <p:cNvPr id="11" name="Rectangle: Rounded Corners 10">
            <a:extLst>
              <a:ext uri="{FF2B5EF4-FFF2-40B4-BE49-F238E27FC236}">
                <a16:creationId xmlns:a16="http://schemas.microsoft.com/office/drawing/2014/main" id="{85A398FF-102B-D3CE-293F-62B574A3030F}"/>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6163BFFC-0D6F-3637-AB6D-D07E0F68C73B}"/>
              </a:ext>
            </a:extLst>
          </p:cNvPr>
          <p:cNvSpPr/>
          <p:nvPr/>
        </p:nvSpPr>
        <p:spPr>
          <a:xfrm>
            <a:off x="2734056" y="2389518"/>
            <a:ext cx="1709927" cy="715415"/>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D936C8EE-86BF-5EFF-E5AD-7B973A1816F3}"/>
              </a:ext>
            </a:extLst>
          </p:cNvPr>
          <p:cNvSpPr/>
          <p:nvPr/>
        </p:nvSpPr>
        <p:spPr>
          <a:xfrm>
            <a:off x="4727447" y="4304507"/>
            <a:ext cx="1581915" cy="57681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7DAAAC86-7DE4-E624-878D-25CA9B440E85}"/>
              </a:ext>
            </a:extLst>
          </p:cNvPr>
          <p:cNvSpPr/>
          <p:nvPr/>
        </p:nvSpPr>
        <p:spPr>
          <a:xfrm>
            <a:off x="5714998" y="2389518"/>
            <a:ext cx="1413160" cy="642133"/>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ECF7C82E-481C-3ABF-902E-6D4FBA80B916}"/>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CC4F98E-DF6C-D2D8-EE65-2C16972552F3}"/>
              </a:ext>
            </a:extLst>
          </p:cNvPr>
          <p:cNvCxnSpPr>
            <a:cxnSpLocks/>
          </p:cNvCxnSpPr>
          <p:nvPr/>
        </p:nvCxnSpPr>
        <p:spPr>
          <a:xfrm flipV="1">
            <a:off x="2587752" y="3209573"/>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6B7431D-4B0F-69DE-8CCE-3B275C932AE5}"/>
              </a:ext>
            </a:extLst>
          </p:cNvPr>
          <p:cNvCxnSpPr>
            <a:cxnSpLocks/>
          </p:cNvCxnSpPr>
          <p:nvPr/>
        </p:nvCxnSpPr>
        <p:spPr>
          <a:xfrm>
            <a:off x="4057650" y="3241473"/>
            <a:ext cx="861825" cy="9114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0540B2B-2789-B475-0144-2BD8769E2224}"/>
              </a:ext>
            </a:extLst>
          </p:cNvPr>
          <p:cNvCxnSpPr>
            <a:cxnSpLocks/>
          </p:cNvCxnSpPr>
          <p:nvPr/>
        </p:nvCxnSpPr>
        <p:spPr>
          <a:xfrm flipV="1">
            <a:off x="5409820" y="3166817"/>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1E2A4C-BEBE-4A4A-9CB6-A7EE47D9CAAB}"/>
              </a:ext>
            </a:extLst>
          </p:cNvPr>
          <p:cNvSpPr txBox="1"/>
          <p:nvPr/>
        </p:nvSpPr>
        <p:spPr>
          <a:xfrm>
            <a:off x="0" y="5486399"/>
            <a:ext cx="9144000" cy="400110"/>
          </a:xfrm>
          <a:prstGeom prst="rect">
            <a:avLst/>
          </a:prstGeom>
          <a:noFill/>
        </p:spPr>
        <p:txBody>
          <a:bodyPr wrap="square" rtlCol="0">
            <a:spAutoFit/>
          </a:bodyPr>
          <a:lstStyle/>
          <a:p>
            <a:pPr algn="ctr"/>
            <a:r>
              <a:rPr lang="en-US" sz="2000" dirty="0">
                <a:solidFill>
                  <a:srgbClr val="FF0000"/>
                </a:solidFill>
              </a:rPr>
              <a:t>[Alice] </a:t>
            </a:r>
            <a:r>
              <a:rPr lang="en-US" sz="2000" dirty="0">
                <a:solidFill>
                  <a:srgbClr val="00B050"/>
                </a:solidFill>
              </a:rPr>
              <a:t>[told] </a:t>
            </a:r>
            <a:r>
              <a:rPr lang="en-US" sz="2000" dirty="0"/>
              <a:t>[her] [mom] [that] </a:t>
            </a:r>
            <a:r>
              <a:rPr lang="en-US" sz="2000" dirty="0">
                <a:solidFill>
                  <a:schemeClr val="accent1"/>
                </a:solidFill>
              </a:rPr>
              <a:t>[she] </a:t>
            </a:r>
            <a:r>
              <a:rPr lang="en-US" sz="2000" dirty="0"/>
              <a:t>[would] </a:t>
            </a:r>
            <a:r>
              <a:rPr lang="en-US" sz="2000" dirty="0">
                <a:solidFill>
                  <a:srgbClr val="00B050"/>
                </a:solidFill>
              </a:rPr>
              <a:t>[join] </a:t>
            </a:r>
            <a:r>
              <a:rPr lang="en-US" sz="2000" dirty="0"/>
              <a:t>[Google] [after] </a:t>
            </a:r>
            <a:r>
              <a:rPr lang="en-US" sz="2000" dirty="0">
                <a:solidFill>
                  <a:srgbClr val="FF0000"/>
                </a:solidFill>
              </a:rPr>
              <a:t>[graduation]</a:t>
            </a:r>
          </a:p>
        </p:txBody>
      </p:sp>
      <p:sp>
        <p:nvSpPr>
          <p:cNvPr id="16" name="TextBox 15">
            <a:extLst>
              <a:ext uri="{FF2B5EF4-FFF2-40B4-BE49-F238E27FC236}">
                <a16:creationId xmlns:a16="http://schemas.microsoft.com/office/drawing/2014/main" id="{0DF2A345-DFC2-4229-4888-BA8BC1C45A61}"/>
              </a:ext>
            </a:extLst>
          </p:cNvPr>
          <p:cNvSpPr txBox="1"/>
          <p:nvPr/>
        </p:nvSpPr>
        <p:spPr>
          <a:xfrm>
            <a:off x="-7842" y="5922396"/>
            <a:ext cx="9144000" cy="400110"/>
          </a:xfrm>
          <a:prstGeom prst="rect">
            <a:avLst/>
          </a:prstGeom>
          <a:noFill/>
        </p:spPr>
        <p:txBody>
          <a:bodyPr wrap="square" rtlCol="0">
            <a:spAutoFit/>
          </a:bodyPr>
          <a:lstStyle/>
          <a:p>
            <a:r>
              <a:rPr lang="en-US" sz="2000" dirty="0"/>
              <a:t>    </a:t>
            </a:r>
            <a:r>
              <a:rPr lang="en-US" sz="2000" dirty="0">
                <a:solidFill>
                  <a:srgbClr val="FF0000"/>
                </a:solidFill>
              </a:rPr>
              <a:t>Noun </a:t>
            </a:r>
            <a:r>
              <a:rPr lang="en-US" sz="2000" dirty="0"/>
              <a:t>  </a:t>
            </a:r>
            <a:r>
              <a:rPr lang="en-US" sz="2000" dirty="0">
                <a:solidFill>
                  <a:srgbClr val="00B050"/>
                </a:solidFill>
              </a:rPr>
              <a:t>Verb</a:t>
            </a:r>
            <a:r>
              <a:rPr lang="en-US" sz="2000" dirty="0"/>
              <a:t>                           </a:t>
            </a:r>
            <a:r>
              <a:rPr lang="en-US" sz="2000" dirty="0">
                <a:solidFill>
                  <a:schemeClr val="accent1"/>
                </a:solidFill>
              </a:rPr>
              <a:t>Pronoun  </a:t>
            </a:r>
            <a:r>
              <a:rPr lang="en-US" sz="2000" dirty="0"/>
              <a:t>         </a:t>
            </a:r>
            <a:r>
              <a:rPr lang="en-US" sz="2000" dirty="0">
                <a:solidFill>
                  <a:srgbClr val="00B050"/>
                </a:solidFill>
              </a:rPr>
              <a:t>Verb </a:t>
            </a:r>
            <a:r>
              <a:rPr lang="en-US" sz="2000" dirty="0"/>
              <a:t>                              </a:t>
            </a:r>
            <a:r>
              <a:rPr lang="en-US" sz="2000" dirty="0">
                <a:solidFill>
                  <a:srgbClr val="FF0000"/>
                </a:solidFill>
              </a:rPr>
              <a:t>Noun</a:t>
            </a:r>
          </a:p>
        </p:txBody>
      </p:sp>
      <p:sp>
        <p:nvSpPr>
          <p:cNvPr id="19" name="Slide Number Placeholder 18">
            <a:extLst>
              <a:ext uri="{FF2B5EF4-FFF2-40B4-BE49-F238E27FC236}">
                <a16:creationId xmlns:a16="http://schemas.microsoft.com/office/drawing/2014/main" id="{6AB09C7B-856C-6918-7F68-B8815CD3C469}"/>
              </a:ext>
            </a:extLst>
          </p:cNvPr>
          <p:cNvSpPr>
            <a:spLocks noGrp="1"/>
          </p:cNvSpPr>
          <p:nvPr>
            <p:ph type="sldNum" sz="quarter" idx="12"/>
          </p:nvPr>
        </p:nvSpPr>
        <p:spPr/>
        <p:txBody>
          <a:bodyPr/>
          <a:lstStyle/>
          <a:p>
            <a:fld id="{70C12960-6E85-460F-B6E3-5B82CB31AF3D}" type="slidenum">
              <a:rPr lang="en-US" smtClean="0"/>
              <a:t>17</a:t>
            </a:fld>
            <a:endParaRPr lang="en-US"/>
          </a:p>
        </p:txBody>
      </p:sp>
      <p:sp>
        <p:nvSpPr>
          <p:cNvPr id="9" name="TextBox 8">
            <a:extLst>
              <a:ext uri="{FF2B5EF4-FFF2-40B4-BE49-F238E27FC236}">
                <a16:creationId xmlns:a16="http://schemas.microsoft.com/office/drawing/2014/main" id="{EF7FE221-B529-E1EF-018F-FDEAB01D5C23}"/>
              </a:ext>
            </a:extLst>
          </p:cNvPr>
          <p:cNvSpPr txBox="1"/>
          <p:nvPr/>
        </p:nvSpPr>
        <p:spPr>
          <a:xfrm>
            <a:off x="-7842" y="5065145"/>
            <a:ext cx="9144000" cy="400110"/>
          </a:xfrm>
          <a:prstGeom prst="rect">
            <a:avLst/>
          </a:prstGeom>
          <a:noFill/>
        </p:spPr>
        <p:txBody>
          <a:bodyPr wrap="square" rtlCol="0">
            <a:spAutoFit/>
          </a:bodyPr>
          <a:lstStyle/>
          <a:p>
            <a:r>
              <a:rPr lang="en-US" sz="2000" dirty="0"/>
              <a:t>  [PERSON]                                                           [ORGANIZATION]    </a:t>
            </a:r>
          </a:p>
        </p:txBody>
      </p:sp>
    </p:spTree>
    <p:extLst>
      <p:ext uri="{BB962C8B-B14F-4D97-AF65-F5344CB8AC3E}">
        <p14:creationId xmlns:p14="http://schemas.microsoft.com/office/powerpoint/2010/main" val="1988677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7BEFD-3A27-3FA3-99FA-9B2B5E88E869}"/>
            </a:ext>
          </a:extLst>
        </p:cNvPr>
        <p:cNvGrpSpPr/>
        <p:nvPr/>
      </p:nvGrpSpPr>
      <p:grpSpPr>
        <a:xfrm>
          <a:off x="0" y="0"/>
          <a:ext cx="0" cy="0"/>
          <a:chOff x="0" y="0"/>
          <a:chExt cx="0" cy="0"/>
        </a:xfrm>
      </p:grpSpPr>
      <p:sp>
        <p:nvSpPr>
          <p:cNvPr id="9" name="Oval 8">
            <a:extLst>
              <a:ext uri="{FF2B5EF4-FFF2-40B4-BE49-F238E27FC236}">
                <a16:creationId xmlns:a16="http://schemas.microsoft.com/office/drawing/2014/main" id="{A7D81EDB-6CE6-F3D7-ABC1-B01EBE7C18AD}"/>
              </a:ext>
            </a:extLst>
          </p:cNvPr>
          <p:cNvSpPr/>
          <p:nvPr/>
        </p:nvSpPr>
        <p:spPr>
          <a:xfrm>
            <a:off x="3566921" y="5419121"/>
            <a:ext cx="838200" cy="581629"/>
          </a:xfrm>
          <a:prstGeom prst="ellipse">
            <a:avLst/>
          </a:prstGeom>
          <a:noFill/>
          <a:ln w="4762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46F3FE6A-DAC6-A7AB-B982-F6FDD5D57641}"/>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C17CCA-AE1C-1AB8-7F06-89E639BF36AF}"/>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E368EA0A-8CDF-4B7C-79F1-7681E5E7154D}"/>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6008713A-DC22-F93B-C4A0-F92FDB9A47AA}"/>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6" name="TextBox 5">
            <a:extLst>
              <a:ext uri="{FF2B5EF4-FFF2-40B4-BE49-F238E27FC236}">
                <a16:creationId xmlns:a16="http://schemas.microsoft.com/office/drawing/2014/main" id="{55615468-1275-F137-404F-BBCAEA7D48D3}"/>
              </a:ext>
            </a:extLst>
          </p:cNvPr>
          <p:cNvSpPr txBox="1"/>
          <p:nvPr/>
        </p:nvSpPr>
        <p:spPr>
          <a:xfrm>
            <a:off x="2734057" y="2389519"/>
            <a:ext cx="2176272" cy="646331"/>
          </a:xfrm>
          <a:prstGeom prst="rect">
            <a:avLst/>
          </a:prstGeom>
          <a:noFill/>
        </p:spPr>
        <p:txBody>
          <a:bodyPr wrap="square" rtlCol="0">
            <a:spAutoFit/>
          </a:bodyPr>
          <a:lstStyle/>
          <a:p>
            <a:r>
              <a:rPr lang="en-US" dirty="0"/>
              <a:t>Part-of-Speech (POS) Tagging</a:t>
            </a:r>
          </a:p>
        </p:txBody>
      </p:sp>
      <p:sp>
        <p:nvSpPr>
          <p:cNvPr id="7" name="TextBox 6">
            <a:extLst>
              <a:ext uri="{FF2B5EF4-FFF2-40B4-BE49-F238E27FC236}">
                <a16:creationId xmlns:a16="http://schemas.microsoft.com/office/drawing/2014/main" id="{E28EEC76-9A82-A253-CEC0-4FD1232DE3C3}"/>
              </a:ext>
            </a:extLst>
          </p:cNvPr>
          <p:cNvSpPr txBox="1"/>
          <p:nvPr/>
        </p:nvSpPr>
        <p:spPr>
          <a:xfrm>
            <a:off x="4727448" y="4371154"/>
            <a:ext cx="1627632" cy="369332"/>
          </a:xfrm>
          <a:prstGeom prst="rect">
            <a:avLst/>
          </a:prstGeom>
          <a:noFill/>
        </p:spPr>
        <p:txBody>
          <a:bodyPr wrap="square" rtlCol="0">
            <a:spAutoFit/>
          </a:bodyPr>
          <a:lstStyle/>
          <a:p>
            <a:r>
              <a:rPr lang="en-US" b="1" dirty="0">
                <a:solidFill>
                  <a:srgbClr val="474747"/>
                </a:solidFill>
              </a:rPr>
              <a:t>Name Tagging</a:t>
            </a:r>
          </a:p>
        </p:txBody>
      </p:sp>
      <p:sp>
        <p:nvSpPr>
          <p:cNvPr id="8" name="TextBox 7">
            <a:extLst>
              <a:ext uri="{FF2B5EF4-FFF2-40B4-BE49-F238E27FC236}">
                <a16:creationId xmlns:a16="http://schemas.microsoft.com/office/drawing/2014/main" id="{FBC332EE-D1A3-752E-6DAC-BFDDC1604678}"/>
              </a:ext>
            </a:extLst>
          </p:cNvPr>
          <p:cNvSpPr txBox="1"/>
          <p:nvPr/>
        </p:nvSpPr>
        <p:spPr>
          <a:xfrm>
            <a:off x="5724144" y="2392199"/>
            <a:ext cx="2057400" cy="646331"/>
          </a:xfrm>
          <a:prstGeom prst="rect">
            <a:avLst/>
          </a:prstGeom>
          <a:noFill/>
        </p:spPr>
        <p:txBody>
          <a:bodyPr wrap="square" rtlCol="0">
            <a:spAutoFit/>
          </a:bodyPr>
          <a:lstStyle/>
          <a:p>
            <a:r>
              <a:rPr lang="en-US" dirty="0"/>
              <a:t>Coreference Resolving</a:t>
            </a:r>
          </a:p>
        </p:txBody>
      </p:sp>
      <p:sp>
        <p:nvSpPr>
          <p:cNvPr id="11" name="Rectangle: Rounded Corners 10">
            <a:extLst>
              <a:ext uri="{FF2B5EF4-FFF2-40B4-BE49-F238E27FC236}">
                <a16:creationId xmlns:a16="http://schemas.microsoft.com/office/drawing/2014/main" id="{FDF23FB7-C4C6-DCAE-6FEA-112B89AB85CD}"/>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00C6E63B-02A1-9D36-2797-404487B62843}"/>
              </a:ext>
            </a:extLst>
          </p:cNvPr>
          <p:cNvSpPr/>
          <p:nvPr/>
        </p:nvSpPr>
        <p:spPr>
          <a:xfrm>
            <a:off x="2734056" y="2389518"/>
            <a:ext cx="1709927" cy="715415"/>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53CFC96-7164-1BCF-D311-7DF909234520}"/>
              </a:ext>
            </a:extLst>
          </p:cNvPr>
          <p:cNvSpPr/>
          <p:nvPr/>
        </p:nvSpPr>
        <p:spPr>
          <a:xfrm>
            <a:off x="4727447" y="4304507"/>
            <a:ext cx="1581915" cy="57681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14BF6AF4-375A-09BF-3205-3DFB883E9BC2}"/>
              </a:ext>
            </a:extLst>
          </p:cNvPr>
          <p:cNvSpPr/>
          <p:nvPr/>
        </p:nvSpPr>
        <p:spPr>
          <a:xfrm>
            <a:off x="5714998" y="2389518"/>
            <a:ext cx="1413160" cy="642133"/>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5159980E-1802-80A6-5A74-CAF872413569}"/>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7BDA9C8-0180-215F-4026-80E69CE68AEC}"/>
              </a:ext>
            </a:extLst>
          </p:cNvPr>
          <p:cNvCxnSpPr>
            <a:cxnSpLocks/>
          </p:cNvCxnSpPr>
          <p:nvPr/>
        </p:nvCxnSpPr>
        <p:spPr>
          <a:xfrm flipV="1">
            <a:off x="2587752" y="3209573"/>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286966-56EC-9704-E572-4CF160D09FD1}"/>
              </a:ext>
            </a:extLst>
          </p:cNvPr>
          <p:cNvCxnSpPr>
            <a:cxnSpLocks/>
          </p:cNvCxnSpPr>
          <p:nvPr/>
        </p:nvCxnSpPr>
        <p:spPr>
          <a:xfrm>
            <a:off x="4057650" y="3241473"/>
            <a:ext cx="861825" cy="9114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EB1D794-DAF1-5F59-1560-AE445DEE54D8}"/>
              </a:ext>
            </a:extLst>
          </p:cNvPr>
          <p:cNvCxnSpPr>
            <a:cxnSpLocks/>
          </p:cNvCxnSpPr>
          <p:nvPr/>
        </p:nvCxnSpPr>
        <p:spPr>
          <a:xfrm flipV="1">
            <a:off x="5409820" y="3166817"/>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A22A9E7-3110-5D61-C89B-FB7B95DDBF6E}"/>
              </a:ext>
            </a:extLst>
          </p:cNvPr>
          <p:cNvSpPr txBox="1"/>
          <p:nvPr/>
        </p:nvSpPr>
        <p:spPr>
          <a:xfrm>
            <a:off x="0" y="5486399"/>
            <a:ext cx="9144000" cy="400110"/>
          </a:xfrm>
          <a:prstGeom prst="rect">
            <a:avLst/>
          </a:prstGeom>
          <a:noFill/>
        </p:spPr>
        <p:txBody>
          <a:bodyPr wrap="square" rtlCol="0">
            <a:spAutoFit/>
          </a:bodyPr>
          <a:lstStyle/>
          <a:p>
            <a:pPr algn="ctr"/>
            <a:r>
              <a:rPr lang="en-US" sz="2000" dirty="0">
                <a:solidFill>
                  <a:srgbClr val="FF0000"/>
                </a:solidFill>
              </a:rPr>
              <a:t>[Alice] </a:t>
            </a:r>
            <a:r>
              <a:rPr lang="en-US" sz="2000" dirty="0">
                <a:solidFill>
                  <a:srgbClr val="00B050"/>
                </a:solidFill>
              </a:rPr>
              <a:t>[told] </a:t>
            </a:r>
            <a:r>
              <a:rPr lang="en-US" sz="2000" dirty="0"/>
              <a:t>[her] [mom] [that] </a:t>
            </a:r>
            <a:r>
              <a:rPr lang="en-US" sz="2000" dirty="0">
                <a:solidFill>
                  <a:schemeClr val="accent1"/>
                </a:solidFill>
              </a:rPr>
              <a:t>[she] </a:t>
            </a:r>
            <a:r>
              <a:rPr lang="en-US" sz="2000" dirty="0"/>
              <a:t>[would] </a:t>
            </a:r>
            <a:r>
              <a:rPr lang="en-US" sz="2000" dirty="0">
                <a:solidFill>
                  <a:srgbClr val="00B050"/>
                </a:solidFill>
              </a:rPr>
              <a:t>[join] </a:t>
            </a:r>
            <a:r>
              <a:rPr lang="en-US" sz="2000" dirty="0"/>
              <a:t>[Google] [after] </a:t>
            </a:r>
            <a:r>
              <a:rPr lang="en-US" sz="2000" dirty="0">
                <a:solidFill>
                  <a:srgbClr val="FF0000"/>
                </a:solidFill>
              </a:rPr>
              <a:t>[graduation]</a:t>
            </a:r>
          </a:p>
        </p:txBody>
      </p:sp>
      <p:sp>
        <p:nvSpPr>
          <p:cNvPr id="16" name="TextBox 15">
            <a:extLst>
              <a:ext uri="{FF2B5EF4-FFF2-40B4-BE49-F238E27FC236}">
                <a16:creationId xmlns:a16="http://schemas.microsoft.com/office/drawing/2014/main" id="{79A06FB1-DADA-56FE-7C88-B59B56C39FAA}"/>
              </a:ext>
            </a:extLst>
          </p:cNvPr>
          <p:cNvSpPr txBox="1"/>
          <p:nvPr/>
        </p:nvSpPr>
        <p:spPr>
          <a:xfrm>
            <a:off x="-7842" y="5922396"/>
            <a:ext cx="9144000" cy="400110"/>
          </a:xfrm>
          <a:prstGeom prst="rect">
            <a:avLst/>
          </a:prstGeom>
          <a:noFill/>
        </p:spPr>
        <p:txBody>
          <a:bodyPr wrap="square" rtlCol="0">
            <a:spAutoFit/>
          </a:bodyPr>
          <a:lstStyle/>
          <a:p>
            <a:r>
              <a:rPr lang="en-US" sz="2000" dirty="0"/>
              <a:t>    </a:t>
            </a:r>
            <a:r>
              <a:rPr lang="en-US" sz="2000" dirty="0">
                <a:solidFill>
                  <a:srgbClr val="FF0000"/>
                </a:solidFill>
              </a:rPr>
              <a:t>Noun </a:t>
            </a:r>
            <a:r>
              <a:rPr lang="en-US" sz="2000" dirty="0"/>
              <a:t>  </a:t>
            </a:r>
            <a:r>
              <a:rPr lang="en-US" sz="2000" dirty="0">
                <a:solidFill>
                  <a:srgbClr val="00B050"/>
                </a:solidFill>
              </a:rPr>
              <a:t>Verb</a:t>
            </a:r>
            <a:r>
              <a:rPr lang="en-US" sz="2000" dirty="0"/>
              <a:t>                           </a:t>
            </a:r>
            <a:r>
              <a:rPr lang="en-US" sz="2000" dirty="0">
                <a:solidFill>
                  <a:schemeClr val="accent1"/>
                </a:solidFill>
              </a:rPr>
              <a:t>Pronoun  </a:t>
            </a:r>
            <a:r>
              <a:rPr lang="en-US" sz="2000" dirty="0"/>
              <a:t>         </a:t>
            </a:r>
            <a:r>
              <a:rPr lang="en-US" sz="2000" dirty="0">
                <a:solidFill>
                  <a:srgbClr val="00B050"/>
                </a:solidFill>
              </a:rPr>
              <a:t>Verb </a:t>
            </a:r>
            <a:r>
              <a:rPr lang="en-US" sz="2000" dirty="0"/>
              <a:t>                              </a:t>
            </a:r>
            <a:r>
              <a:rPr lang="en-US" sz="2000" dirty="0">
                <a:solidFill>
                  <a:srgbClr val="FF0000"/>
                </a:solidFill>
              </a:rPr>
              <a:t>Noun</a:t>
            </a:r>
          </a:p>
        </p:txBody>
      </p:sp>
      <p:sp>
        <p:nvSpPr>
          <p:cNvPr id="15" name="Oval 14">
            <a:extLst>
              <a:ext uri="{FF2B5EF4-FFF2-40B4-BE49-F238E27FC236}">
                <a16:creationId xmlns:a16="http://schemas.microsoft.com/office/drawing/2014/main" id="{7B6964BB-4E42-F659-96A0-94AAB28C88AE}"/>
              </a:ext>
            </a:extLst>
          </p:cNvPr>
          <p:cNvSpPr/>
          <p:nvPr/>
        </p:nvSpPr>
        <p:spPr>
          <a:xfrm>
            <a:off x="154303" y="5406424"/>
            <a:ext cx="941071" cy="594326"/>
          </a:xfrm>
          <a:prstGeom prst="ellipse">
            <a:avLst/>
          </a:prstGeom>
          <a:noFill/>
          <a:ln w="508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Slide Number Placeholder 28">
            <a:extLst>
              <a:ext uri="{FF2B5EF4-FFF2-40B4-BE49-F238E27FC236}">
                <a16:creationId xmlns:a16="http://schemas.microsoft.com/office/drawing/2014/main" id="{1D3FDF74-EF46-4620-F0BD-9EB25809C3BD}"/>
              </a:ext>
            </a:extLst>
          </p:cNvPr>
          <p:cNvSpPr>
            <a:spLocks noGrp="1"/>
          </p:cNvSpPr>
          <p:nvPr>
            <p:ph type="sldNum" sz="quarter" idx="12"/>
          </p:nvPr>
        </p:nvSpPr>
        <p:spPr/>
        <p:txBody>
          <a:bodyPr/>
          <a:lstStyle/>
          <a:p>
            <a:fld id="{70C12960-6E85-460F-B6E3-5B82CB31AF3D}" type="slidenum">
              <a:rPr lang="en-US" smtClean="0"/>
              <a:t>18</a:t>
            </a:fld>
            <a:endParaRPr lang="en-US"/>
          </a:p>
        </p:txBody>
      </p:sp>
      <p:sp>
        <p:nvSpPr>
          <p:cNvPr id="21" name="TextBox 20">
            <a:extLst>
              <a:ext uri="{FF2B5EF4-FFF2-40B4-BE49-F238E27FC236}">
                <a16:creationId xmlns:a16="http://schemas.microsoft.com/office/drawing/2014/main" id="{8A809129-C0EC-C121-86E0-EB113C017A32}"/>
              </a:ext>
            </a:extLst>
          </p:cNvPr>
          <p:cNvSpPr txBox="1"/>
          <p:nvPr/>
        </p:nvSpPr>
        <p:spPr>
          <a:xfrm>
            <a:off x="-7842" y="5065145"/>
            <a:ext cx="9144000" cy="400110"/>
          </a:xfrm>
          <a:prstGeom prst="rect">
            <a:avLst/>
          </a:prstGeom>
          <a:noFill/>
        </p:spPr>
        <p:txBody>
          <a:bodyPr wrap="square" rtlCol="0">
            <a:spAutoFit/>
          </a:bodyPr>
          <a:lstStyle/>
          <a:p>
            <a:r>
              <a:rPr lang="en-US" sz="2000" dirty="0"/>
              <a:t>  [PERSON]                                                           [ORGANIZATION]    </a:t>
            </a:r>
          </a:p>
        </p:txBody>
      </p:sp>
    </p:spTree>
    <p:extLst>
      <p:ext uri="{BB962C8B-B14F-4D97-AF65-F5344CB8AC3E}">
        <p14:creationId xmlns:p14="http://schemas.microsoft.com/office/powerpoint/2010/main" val="1394182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B267-AF20-D031-CD1E-1F95D962C09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AA8E7F53-FF2B-D4F9-C435-AABD502C3BBC}"/>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0E254C-7759-6BD3-DD00-7196AEE794F9}"/>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B3F01737-73D0-E10B-C714-D14AD814ED08}"/>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B6CC9AF7-6B5C-E929-6733-43272DEB93AC}"/>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6" name="TextBox 5">
            <a:extLst>
              <a:ext uri="{FF2B5EF4-FFF2-40B4-BE49-F238E27FC236}">
                <a16:creationId xmlns:a16="http://schemas.microsoft.com/office/drawing/2014/main" id="{2D3F7147-BE2D-BC4B-0AB5-6A0536C44D50}"/>
              </a:ext>
            </a:extLst>
          </p:cNvPr>
          <p:cNvSpPr txBox="1"/>
          <p:nvPr/>
        </p:nvSpPr>
        <p:spPr>
          <a:xfrm>
            <a:off x="2734057" y="2389519"/>
            <a:ext cx="2176272" cy="646331"/>
          </a:xfrm>
          <a:prstGeom prst="rect">
            <a:avLst/>
          </a:prstGeom>
          <a:noFill/>
        </p:spPr>
        <p:txBody>
          <a:bodyPr wrap="square" rtlCol="0">
            <a:spAutoFit/>
          </a:bodyPr>
          <a:lstStyle/>
          <a:p>
            <a:r>
              <a:rPr lang="en-US" dirty="0"/>
              <a:t>Part-of-Speech (POS) Tagging</a:t>
            </a:r>
          </a:p>
        </p:txBody>
      </p:sp>
      <p:sp>
        <p:nvSpPr>
          <p:cNvPr id="7" name="TextBox 6">
            <a:extLst>
              <a:ext uri="{FF2B5EF4-FFF2-40B4-BE49-F238E27FC236}">
                <a16:creationId xmlns:a16="http://schemas.microsoft.com/office/drawing/2014/main" id="{5D7633E3-F4DF-94B8-0967-27E70214C4DC}"/>
              </a:ext>
            </a:extLst>
          </p:cNvPr>
          <p:cNvSpPr txBox="1"/>
          <p:nvPr/>
        </p:nvSpPr>
        <p:spPr>
          <a:xfrm>
            <a:off x="4727448" y="4371154"/>
            <a:ext cx="1627632" cy="369332"/>
          </a:xfrm>
          <a:prstGeom prst="rect">
            <a:avLst/>
          </a:prstGeom>
          <a:noFill/>
        </p:spPr>
        <p:txBody>
          <a:bodyPr wrap="square" rtlCol="0">
            <a:spAutoFit/>
          </a:bodyPr>
          <a:lstStyle/>
          <a:p>
            <a:r>
              <a:rPr lang="en-US" b="1" dirty="0">
                <a:solidFill>
                  <a:srgbClr val="474747"/>
                </a:solidFill>
              </a:rPr>
              <a:t>Name Tagging</a:t>
            </a:r>
          </a:p>
        </p:txBody>
      </p:sp>
      <p:sp>
        <p:nvSpPr>
          <p:cNvPr id="8" name="TextBox 7">
            <a:extLst>
              <a:ext uri="{FF2B5EF4-FFF2-40B4-BE49-F238E27FC236}">
                <a16:creationId xmlns:a16="http://schemas.microsoft.com/office/drawing/2014/main" id="{97C22DB9-1AFF-AA8F-3190-7AAA5DBF4B7C}"/>
              </a:ext>
            </a:extLst>
          </p:cNvPr>
          <p:cNvSpPr txBox="1"/>
          <p:nvPr/>
        </p:nvSpPr>
        <p:spPr>
          <a:xfrm>
            <a:off x="5724144" y="2392199"/>
            <a:ext cx="2057400" cy="646331"/>
          </a:xfrm>
          <a:prstGeom prst="rect">
            <a:avLst/>
          </a:prstGeom>
          <a:noFill/>
        </p:spPr>
        <p:txBody>
          <a:bodyPr wrap="square" rtlCol="0">
            <a:spAutoFit/>
          </a:bodyPr>
          <a:lstStyle/>
          <a:p>
            <a:r>
              <a:rPr lang="en-US" dirty="0"/>
              <a:t>Coreference Resolving</a:t>
            </a:r>
          </a:p>
        </p:txBody>
      </p:sp>
      <p:sp>
        <p:nvSpPr>
          <p:cNvPr id="9" name="TextBox 8">
            <a:extLst>
              <a:ext uri="{FF2B5EF4-FFF2-40B4-BE49-F238E27FC236}">
                <a16:creationId xmlns:a16="http://schemas.microsoft.com/office/drawing/2014/main" id="{2CE49BD6-66B9-608D-5B6E-044E0CB641D7}"/>
              </a:ext>
            </a:extLst>
          </p:cNvPr>
          <p:cNvSpPr txBox="1"/>
          <p:nvPr/>
        </p:nvSpPr>
        <p:spPr>
          <a:xfrm>
            <a:off x="7296912" y="3458458"/>
            <a:ext cx="1847088" cy="646331"/>
          </a:xfrm>
          <a:prstGeom prst="rect">
            <a:avLst/>
          </a:prstGeom>
          <a:noFill/>
        </p:spPr>
        <p:txBody>
          <a:bodyPr wrap="square" rtlCol="0">
            <a:spAutoFit/>
          </a:bodyPr>
          <a:lstStyle/>
          <a:p>
            <a:r>
              <a:rPr lang="en-US" dirty="0"/>
              <a:t>IE task-specific methods</a:t>
            </a:r>
          </a:p>
        </p:txBody>
      </p:sp>
      <p:sp>
        <p:nvSpPr>
          <p:cNvPr id="11" name="Rectangle: Rounded Corners 10">
            <a:extLst>
              <a:ext uri="{FF2B5EF4-FFF2-40B4-BE49-F238E27FC236}">
                <a16:creationId xmlns:a16="http://schemas.microsoft.com/office/drawing/2014/main" id="{CFC51108-16DE-A050-F6A8-3328ABDA1DA3}"/>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6290D5E-1C07-B00A-4A2F-85F7577CCBBC}"/>
              </a:ext>
            </a:extLst>
          </p:cNvPr>
          <p:cNvSpPr/>
          <p:nvPr/>
        </p:nvSpPr>
        <p:spPr>
          <a:xfrm>
            <a:off x="2734056" y="2389518"/>
            <a:ext cx="1709927" cy="715415"/>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9FECF35-19F9-EA0D-9CCD-914422D3EEEC}"/>
              </a:ext>
            </a:extLst>
          </p:cNvPr>
          <p:cNvSpPr/>
          <p:nvPr/>
        </p:nvSpPr>
        <p:spPr>
          <a:xfrm>
            <a:off x="4727447" y="4304507"/>
            <a:ext cx="1581915" cy="57681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8E0AB560-4494-F62A-8B1B-3070F8A93731}"/>
              </a:ext>
            </a:extLst>
          </p:cNvPr>
          <p:cNvSpPr/>
          <p:nvPr/>
        </p:nvSpPr>
        <p:spPr>
          <a:xfrm>
            <a:off x="5714998" y="2389518"/>
            <a:ext cx="1413160" cy="642133"/>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5E529D99-A08C-84C0-1585-00EDC6963276}"/>
              </a:ext>
            </a:extLst>
          </p:cNvPr>
          <p:cNvSpPr/>
          <p:nvPr/>
        </p:nvSpPr>
        <p:spPr>
          <a:xfrm>
            <a:off x="7296912" y="3457526"/>
            <a:ext cx="1709928" cy="646331"/>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1F0B6028-72EE-1A26-98E1-B515C3984A61}"/>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A641517-E660-7A30-2FB9-3E3F5E5CE3E1}"/>
              </a:ext>
            </a:extLst>
          </p:cNvPr>
          <p:cNvCxnSpPr>
            <a:cxnSpLocks/>
          </p:cNvCxnSpPr>
          <p:nvPr/>
        </p:nvCxnSpPr>
        <p:spPr>
          <a:xfrm flipV="1">
            <a:off x="2587752" y="3209573"/>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7680615-4A3F-6BAB-1001-93BE02BAAD98}"/>
              </a:ext>
            </a:extLst>
          </p:cNvPr>
          <p:cNvCxnSpPr>
            <a:cxnSpLocks/>
          </p:cNvCxnSpPr>
          <p:nvPr/>
        </p:nvCxnSpPr>
        <p:spPr>
          <a:xfrm>
            <a:off x="4057650" y="3241473"/>
            <a:ext cx="861825" cy="9114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49B3E00-F92A-5358-E94F-540F7BEA9001}"/>
              </a:ext>
            </a:extLst>
          </p:cNvPr>
          <p:cNvCxnSpPr>
            <a:cxnSpLocks/>
          </p:cNvCxnSpPr>
          <p:nvPr/>
        </p:nvCxnSpPr>
        <p:spPr>
          <a:xfrm flipV="1">
            <a:off x="5409820" y="3166817"/>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A78A3E0-1953-7546-46A0-B3EAC92E950F}"/>
              </a:ext>
            </a:extLst>
          </p:cNvPr>
          <p:cNvCxnSpPr>
            <a:cxnSpLocks/>
          </p:cNvCxnSpPr>
          <p:nvPr/>
        </p:nvCxnSpPr>
        <p:spPr>
          <a:xfrm>
            <a:off x="7252855" y="2925607"/>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76C3FB56-FB51-8546-AD3C-60C59E3885C1}"/>
              </a:ext>
            </a:extLst>
          </p:cNvPr>
          <p:cNvSpPr/>
          <p:nvPr/>
        </p:nvSpPr>
        <p:spPr>
          <a:xfrm>
            <a:off x="3566921" y="5419121"/>
            <a:ext cx="838200" cy="581629"/>
          </a:xfrm>
          <a:prstGeom prst="ellipse">
            <a:avLst/>
          </a:prstGeom>
          <a:noFill/>
          <a:ln w="4762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F0CB283-2AA5-5F13-0D60-2A98C79C7727}"/>
              </a:ext>
            </a:extLst>
          </p:cNvPr>
          <p:cNvSpPr txBox="1"/>
          <p:nvPr/>
        </p:nvSpPr>
        <p:spPr>
          <a:xfrm>
            <a:off x="0" y="5486399"/>
            <a:ext cx="9144000" cy="400110"/>
          </a:xfrm>
          <a:prstGeom prst="rect">
            <a:avLst/>
          </a:prstGeom>
          <a:noFill/>
        </p:spPr>
        <p:txBody>
          <a:bodyPr wrap="square" rtlCol="0">
            <a:spAutoFit/>
          </a:bodyPr>
          <a:lstStyle/>
          <a:p>
            <a:pPr algn="ctr"/>
            <a:r>
              <a:rPr lang="en-US" sz="2000" dirty="0">
                <a:solidFill>
                  <a:srgbClr val="FF0000"/>
                </a:solidFill>
              </a:rPr>
              <a:t>[Alice] </a:t>
            </a:r>
            <a:r>
              <a:rPr lang="en-US" sz="2000" dirty="0">
                <a:solidFill>
                  <a:srgbClr val="00B050"/>
                </a:solidFill>
              </a:rPr>
              <a:t>[told] </a:t>
            </a:r>
            <a:r>
              <a:rPr lang="en-US" sz="2000" dirty="0"/>
              <a:t>[her] [mom] [that] </a:t>
            </a:r>
            <a:r>
              <a:rPr lang="en-US" sz="2000" dirty="0">
                <a:solidFill>
                  <a:schemeClr val="accent1"/>
                </a:solidFill>
              </a:rPr>
              <a:t>[she] </a:t>
            </a:r>
            <a:r>
              <a:rPr lang="en-US" sz="2000" dirty="0"/>
              <a:t>[would] </a:t>
            </a:r>
            <a:r>
              <a:rPr lang="en-US" sz="2000" dirty="0">
                <a:solidFill>
                  <a:srgbClr val="00B050"/>
                </a:solidFill>
              </a:rPr>
              <a:t>[join] </a:t>
            </a:r>
            <a:r>
              <a:rPr lang="en-US" sz="2000" dirty="0"/>
              <a:t>[Google] [after] </a:t>
            </a:r>
            <a:r>
              <a:rPr lang="en-US" sz="2000" dirty="0">
                <a:solidFill>
                  <a:srgbClr val="FF0000"/>
                </a:solidFill>
              </a:rPr>
              <a:t>[graduation]</a:t>
            </a:r>
          </a:p>
        </p:txBody>
      </p:sp>
      <p:sp>
        <p:nvSpPr>
          <p:cNvPr id="18" name="TextBox 17">
            <a:extLst>
              <a:ext uri="{FF2B5EF4-FFF2-40B4-BE49-F238E27FC236}">
                <a16:creationId xmlns:a16="http://schemas.microsoft.com/office/drawing/2014/main" id="{96529957-0B7C-E750-27B4-8F91AA9F40B5}"/>
              </a:ext>
            </a:extLst>
          </p:cNvPr>
          <p:cNvSpPr txBox="1"/>
          <p:nvPr/>
        </p:nvSpPr>
        <p:spPr>
          <a:xfrm>
            <a:off x="-7842" y="5922396"/>
            <a:ext cx="9144000" cy="400110"/>
          </a:xfrm>
          <a:prstGeom prst="rect">
            <a:avLst/>
          </a:prstGeom>
          <a:noFill/>
        </p:spPr>
        <p:txBody>
          <a:bodyPr wrap="square" rtlCol="0">
            <a:spAutoFit/>
          </a:bodyPr>
          <a:lstStyle/>
          <a:p>
            <a:r>
              <a:rPr lang="en-US" sz="2000" dirty="0"/>
              <a:t>    </a:t>
            </a:r>
            <a:r>
              <a:rPr lang="en-US" sz="2000" dirty="0">
                <a:solidFill>
                  <a:srgbClr val="FF0000"/>
                </a:solidFill>
              </a:rPr>
              <a:t>Noun </a:t>
            </a:r>
            <a:r>
              <a:rPr lang="en-US" sz="2000" dirty="0"/>
              <a:t>  </a:t>
            </a:r>
            <a:r>
              <a:rPr lang="en-US" sz="2000" dirty="0">
                <a:solidFill>
                  <a:srgbClr val="00B050"/>
                </a:solidFill>
              </a:rPr>
              <a:t>Verb</a:t>
            </a:r>
            <a:r>
              <a:rPr lang="en-US" sz="2000" dirty="0"/>
              <a:t>                           </a:t>
            </a:r>
            <a:r>
              <a:rPr lang="en-US" sz="2000" dirty="0">
                <a:solidFill>
                  <a:schemeClr val="accent1"/>
                </a:solidFill>
              </a:rPr>
              <a:t>Pronoun  </a:t>
            </a:r>
            <a:r>
              <a:rPr lang="en-US" sz="2000" dirty="0"/>
              <a:t>         </a:t>
            </a:r>
            <a:r>
              <a:rPr lang="en-US" sz="2000" dirty="0">
                <a:solidFill>
                  <a:srgbClr val="00B050"/>
                </a:solidFill>
              </a:rPr>
              <a:t>Verb </a:t>
            </a:r>
            <a:r>
              <a:rPr lang="en-US" sz="2000" dirty="0"/>
              <a:t>                              </a:t>
            </a:r>
            <a:r>
              <a:rPr lang="en-US" sz="2000" dirty="0">
                <a:solidFill>
                  <a:srgbClr val="FF0000"/>
                </a:solidFill>
              </a:rPr>
              <a:t>Noun</a:t>
            </a:r>
          </a:p>
        </p:txBody>
      </p:sp>
      <p:sp>
        <p:nvSpPr>
          <p:cNvPr id="19" name="TextBox 18">
            <a:extLst>
              <a:ext uri="{FF2B5EF4-FFF2-40B4-BE49-F238E27FC236}">
                <a16:creationId xmlns:a16="http://schemas.microsoft.com/office/drawing/2014/main" id="{1C3F8C56-BBD9-E630-297A-B014EACA03D6}"/>
              </a:ext>
            </a:extLst>
          </p:cNvPr>
          <p:cNvSpPr txBox="1"/>
          <p:nvPr/>
        </p:nvSpPr>
        <p:spPr>
          <a:xfrm>
            <a:off x="-7842" y="5065145"/>
            <a:ext cx="9144000" cy="400110"/>
          </a:xfrm>
          <a:prstGeom prst="rect">
            <a:avLst/>
          </a:prstGeom>
          <a:noFill/>
        </p:spPr>
        <p:txBody>
          <a:bodyPr wrap="square" rtlCol="0">
            <a:spAutoFit/>
          </a:bodyPr>
          <a:lstStyle/>
          <a:p>
            <a:r>
              <a:rPr lang="en-US" sz="2000" dirty="0"/>
              <a:t>  [PERSON]                                                                                     [ORGANIZATION]    </a:t>
            </a:r>
          </a:p>
        </p:txBody>
      </p:sp>
      <p:sp>
        <p:nvSpPr>
          <p:cNvPr id="21" name="Oval 20">
            <a:extLst>
              <a:ext uri="{FF2B5EF4-FFF2-40B4-BE49-F238E27FC236}">
                <a16:creationId xmlns:a16="http://schemas.microsoft.com/office/drawing/2014/main" id="{6363452D-CA72-FB27-49F8-48699FCDD5F4}"/>
              </a:ext>
            </a:extLst>
          </p:cNvPr>
          <p:cNvSpPr/>
          <p:nvPr/>
        </p:nvSpPr>
        <p:spPr>
          <a:xfrm>
            <a:off x="154303" y="5406424"/>
            <a:ext cx="941071" cy="594326"/>
          </a:xfrm>
          <a:prstGeom prst="ellipse">
            <a:avLst/>
          </a:prstGeom>
          <a:noFill/>
          <a:ln w="508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lide Number Placeholder 21">
            <a:extLst>
              <a:ext uri="{FF2B5EF4-FFF2-40B4-BE49-F238E27FC236}">
                <a16:creationId xmlns:a16="http://schemas.microsoft.com/office/drawing/2014/main" id="{0F26C08E-42A1-966E-7703-0552BC316F89}"/>
              </a:ext>
            </a:extLst>
          </p:cNvPr>
          <p:cNvSpPr>
            <a:spLocks noGrp="1"/>
          </p:cNvSpPr>
          <p:nvPr>
            <p:ph type="sldNum" sz="quarter" idx="12"/>
          </p:nvPr>
        </p:nvSpPr>
        <p:spPr/>
        <p:txBody>
          <a:bodyPr/>
          <a:lstStyle/>
          <a:p>
            <a:fld id="{70C12960-6E85-460F-B6E3-5B82CB31AF3D}" type="slidenum">
              <a:rPr lang="en-US" smtClean="0"/>
              <a:t>19</a:t>
            </a:fld>
            <a:endParaRPr lang="en-US"/>
          </a:p>
        </p:txBody>
      </p:sp>
    </p:spTree>
    <p:extLst>
      <p:ext uri="{BB962C8B-B14F-4D97-AF65-F5344CB8AC3E}">
        <p14:creationId xmlns:p14="http://schemas.microsoft.com/office/powerpoint/2010/main" val="4284426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25C68-0A8E-75E1-FD03-7B6AB4AF57A2}"/>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71B9D1D9-84D0-DB1F-1ECE-DDBA5AD6315E}"/>
              </a:ext>
            </a:extLst>
          </p:cNvPr>
          <p:cNvSpPr/>
          <p:nvPr/>
        </p:nvSpPr>
        <p:spPr>
          <a:xfrm>
            <a:off x="283464" y="3348482"/>
            <a:ext cx="1216152" cy="43221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AC6379-B4CB-472A-B308-F3395FEEBFC1}"/>
              </a:ext>
            </a:extLst>
          </p:cNvPr>
          <p:cNvSpPr>
            <a:spLocks noGrp="1"/>
          </p:cNvSpPr>
          <p:nvPr>
            <p:ph type="title"/>
          </p:nvPr>
        </p:nvSpPr>
        <p:spPr/>
        <p:txBody>
          <a:bodyPr>
            <a:normAutofit/>
          </a:bodyPr>
          <a:lstStyle/>
          <a:p>
            <a:r>
              <a:rPr lang="en-US" sz="3400" dirty="0"/>
              <a:t>The ML-based IE Pipeline</a:t>
            </a:r>
          </a:p>
        </p:txBody>
      </p:sp>
      <p:sp>
        <p:nvSpPr>
          <p:cNvPr id="4" name="TextBox 3">
            <a:extLst>
              <a:ext uri="{FF2B5EF4-FFF2-40B4-BE49-F238E27FC236}">
                <a16:creationId xmlns:a16="http://schemas.microsoft.com/office/drawing/2014/main" id="{04025134-AF2E-2A03-A80F-FFDD5C5391B5}"/>
              </a:ext>
            </a:extLst>
          </p:cNvPr>
          <p:cNvSpPr txBox="1"/>
          <p:nvPr/>
        </p:nvSpPr>
        <p:spPr>
          <a:xfrm>
            <a:off x="374904" y="3353607"/>
            <a:ext cx="1207008" cy="369332"/>
          </a:xfrm>
          <a:prstGeom prst="rect">
            <a:avLst/>
          </a:prstGeom>
          <a:noFill/>
        </p:spPr>
        <p:txBody>
          <a:bodyPr wrap="square" rtlCol="0">
            <a:spAutoFit/>
          </a:bodyPr>
          <a:lstStyle/>
          <a:p>
            <a:r>
              <a:rPr lang="en-US" dirty="0"/>
              <a:t>Raw Text</a:t>
            </a:r>
          </a:p>
        </p:txBody>
      </p:sp>
      <p:sp>
        <p:nvSpPr>
          <p:cNvPr id="5" name="TextBox 4">
            <a:extLst>
              <a:ext uri="{FF2B5EF4-FFF2-40B4-BE49-F238E27FC236}">
                <a16:creationId xmlns:a16="http://schemas.microsoft.com/office/drawing/2014/main" id="{47914D3B-DD5B-2744-08CD-EF4AB5981240}"/>
              </a:ext>
            </a:extLst>
          </p:cNvPr>
          <p:cNvSpPr txBox="1"/>
          <p:nvPr/>
        </p:nvSpPr>
        <p:spPr>
          <a:xfrm>
            <a:off x="1499616" y="4371154"/>
            <a:ext cx="2176272" cy="369332"/>
          </a:xfrm>
          <a:prstGeom prst="rect">
            <a:avLst/>
          </a:prstGeom>
          <a:noFill/>
        </p:spPr>
        <p:txBody>
          <a:bodyPr wrap="square" rtlCol="0">
            <a:spAutoFit/>
          </a:bodyPr>
          <a:lstStyle/>
          <a:p>
            <a:r>
              <a:rPr lang="en-US" dirty="0"/>
              <a:t>Tokenization</a:t>
            </a:r>
          </a:p>
        </p:txBody>
      </p:sp>
      <p:sp>
        <p:nvSpPr>
          <p:cNvPr id="6" name="TextBox 5">
            <a:extLst>
              <a:ext uri="{FF2B5EF4-FFF2-40B4-BE49-F238E27FC236}">
                <a16:creationId xmlns:a16="http://schemas.microsoft.com/office/drawing/2014/main" id="{74EB898C-2BBC-9C26-67AA-2ABA17E57918}"/>
              </a:ext>
            </a:extLst>
          </p:cNvPr>
          <p:cNvSpPr txBox="1"/>
          <p:nvPr/>
        </p:nvSpPr>
        <p:spPr>
          <a:xfrm>
            <a:off x="2734057" y="2389519"/>
            <a:ext cx="2176272" cy="646331"/>
          </a:xfrm>
          <a:prstGeom prst="rect">
            <a:avLst/>
          </a:prstGeom>
          <a:noFill/>
        </p:spPr>
        <p:txBody>
          <a:bodyPr wrap="square" rtlCol="0">
            <a:spAutoFit/>
          </a:bodyPr>
          <a:lstStyle/>
          <a:p>
            <a:r>
              <a:rPr lang="en-US" dirty="0"/>
              <a:t>Part-of-Speech (POS) Tagging</a:t>
            </a:r>
          </a:p>
        </p:txBody>
      </p:sp>
      <p:sp>
        <p:nvSpPr>
          <p:cNvPr id="7" name="TextBox 6">
            <a:extLst>
              <a:ext uri="{FF2B5EF4-FFF2-40B4-BE49-F238E27FC236}">
                <a16:creationId xmlns:a16="http://schemas.microsoft.com/office/drawing/2014/main" id="{24F975D2-8F29-FE37-324B-BB2790A46CE9}"/>
              </a:ext>
            </a:extLst>
          </p:cNvPr>
          <p:cNvSpPr txBox="1"/>
          <p:nvPr/>
        </p:nvSpPr>
        <p:spPr>
          <a:xfrm>
            <a:off x="4727448" y="4371154"/>
            <a:ext cx="1627632" cy="369332"/>
          </a:xfrm>
          <a:prstGeom prst="rect">
            <a:avLst/>
          </a:prstGeom>
          <a:noFill/>
        </p:spPr>
        <p:txBody>
          <a:bodyPr wrap="square" rtlCol="0">
            <a:spAutoFit/>
          </a:bodyPr>
          <a:lstStyle/>
          <a:p>
            <a:r>
              <a:rPr lang="en-US" b="1" dirty="0">
                <a:solidFill>
                  <a:srgbClr val="474747"/>
                </a:solidFill>
              </a:rPr>
              <a:t>Name Tagging</a:t>
            </a:r>
          </a:p>
        </p:txBody>
      </p:sp>
      <p:sp>
        <p:nvSpPr>
          <p:cNvPr id="8" name="TextBox 7">
            <a:extLst>
              <a:ext uri="{FF2B5EF4-FFF2-40B4-BE49-F238E27FC236}">
                <a16:creationId xmlns:a16="http://schemas.microsoft.com/office/drawing/2014/main" id="{188DE2D8-F204-03D1-6963-F6C252185C33}"/>
              </a:ext>
            </a:extLst>
          </p:cNvPr>
          <p:cNvSpPr txBox="1"/>
          <p:nvPr/>
        </p:nvSpPr>
        <p:spPr>
          <a:xfrm>
            <a:off x="5724144" y="2392199"/>
            <a:ext cx="2057400" cy="646331"/>
          </a:xfrm>
          <a:prstGeom prst="rect">
            <a:avLst/>
          </a:prstGeom>
          <a:noFill/>
        </p:spPr>
        <p:txBody>
          <a:bodyPr wrap="square" rtlCol="0">
            <a:spAutoFit/>
          </a:bodyPr>
          <a:lstStyle/>
          <a:p>
            <a:r>
              <a:rPr lang="en-US" dirty="0"/>
              <a:t>Coreference Resolving</a:t>
            </a:r>
          </a:p>
        </p:txBody>
      </p:sp>
      <p:sp>
        <p:nvSpPr>
          <p:cNvPr id="9" name="TextBox 8">
            <a:extLst>
              <a:ext uri="{FF2B5EF4-FFF2-40B4-BE49-F238E27FC236}">
                <a16:creationId xmlns:a16="http://schemas.microsoft.com/office/drawing/2014/main" id="{0106A19D-B2BA-990C-C106-B1236F255FA9}"/>
              </a:ext>
            </a:extLst>
          </p:cNvPr>
          <p:cNvSpPr txBox="1"/>
          <p:nvPr/>
        </p:nvSpPr>
        <p:spPr>
          <a:xfrm>
            <a:off x="7296912" y="3458458"/>
            <a:ext cx="1847088" cy="646331"/>
          </a:xfrm>
          <a:prstGeom prst="rect">
            <a:avLst/>
          </a:prstGeom>
          <a:noFill/>
        </p:spPr>
        <p:txBody>
          <a:bodyPr wrap="square" rtlCol="0">
            <a:spAutoFit/>
          </a:bodyPr>
          <a:lstStyle/>
          <a:p>
            <a:r>
              <a:rPr lang="en-US" dirty="0"/>
              <a:t>IE task-specific methods</a:t>
            </a:r>
          </a:p>
        </p:txBody>
      </p:sp>
      <p:sp>
        <p:nvSpPr>
          <p:cNvPr id="11" name="Rectangle: Rounded Corners 10">
            <a:extLst>
              <a:ext uri="{FF2B5EF4-FFF2-40B4-BE49-F238E27FC236}">
                <a16:creationId xmlns:a16="http://schemas.microsoft.com/office/drawing/2014/main" id="{434084F4-6592-3CB9-6D13-13D5F22ED4F5}"/>
              </a:ext>
            </a:extLst>
          </p:cNvPr>
          <p:cNvSpPr/>
          <p:nvPr/>
        </p:nvSpPr>
        <p:spPr>
          <a:xfrm>
            <a:off x="1499616" y="4304507"/>
            <a:ext cx="1481327" cy="51295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E31F27A-F4B7-F281-A421-DEAE49BDE969}"/>
              </a:ext>
            </a:extLst>
          </p:cNvPr>
          <p:cNvSpPr/>
          <p:nvPr/>
        </p:nvSpPr>
        <p:spPr>
          <a:xfrm>
            <a:off x="2734056" y="2389518"/>
            <a:ext cx="1709927" cy="715415"/>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17B7DB9C-A8DB-6748-2545-8E2AD726B28A}"/>
              </a:ext>
            </a:extLst>
          </p:cNvPr>
          <p:cNvSpPr/>
          <p:nvPr/>
        </p:nvSpPr>
        <p:spPr>
          <a:xfrm>
            <a:off x="4727447" y="4304507"/>
            <a:ext cx="1581915" cy="576816"/>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BEB49F68-5340-2F56-1411-9BF9E5B5B6DB}"/>
              </a:ext>
            </a:extLst>
          </p:cNvPr>
          <p:cNvSpPr/>
          <p:nvPr/>
        </p:nvSpPr>
        <p:spPr>
          <a:xfrm>
            <a:off x="5714998" y="2389518"/>
            <a:ext cx="1413160" cy="642133"/>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C4DC8A36-FE05-4B24-A949-499BAC4FB452}"/>
              </a:ext>
            </a:extLst>
          </p:cNvPr>
          <p:cNvSpPr/>
          <p:nvPr/>
        </p:nvSpPr>
        <p:spPr>
          <a:xfrm>
            <a:off x="7296912" y="3457526"/>
            <a:ext cx="1709928" cy="646331"/>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EE36CB50-A7FA-2640-9EDE-2419303B4F13}"/>
              </a:ext>
            </a:extLst>
          </p:cNvPr>
          <p:cNvCxnSpPr>
            <a:cxnSpLocks/>
          </p:cNvCxnSpPr>
          <p:nvPr/>
        </p:nvCxnSpPr>
        <p:spPr>
          <a:xfrm>
            <a:off x="1581912" y="3814544"/>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E829230-24CD-28CD-BE17-EAC9F363364E}"/>
              </a:ext>
            </a:extLst>
          </p:cNvPr>
          <p:cNvCxnSpPr>
            <a:cxnSpLocks/>
          </p:cNvCxnSpPr>
          <p:nvPr/>
        </p:nvCxnSpPr>
        <p:spPr>
          <a:xfrm flipV="1">
            <a:off x="2587752" y="3209573"/>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A551D75-5B7B-E550-A45F-B5F119159A37}"/>
              </a:ext>
            </a:extLst>
          </p:cNvPr>
          <p:cNvCxnSpPr>
            <a:cxnSpLocks/>
          </p:cNvCxnSpPr>
          <p:nvPr/>
        </p:nvCxnSpPr>
        <p:spPr>
          <a:xfrm>
            <a:off x="4057650" y="3241473"/>
            <a:ext cx="861825" cy="9114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A441670-1BF8-53C3-1B2C-F613246F1C1D}"/>
              </a:ext>
            </a:extLst>
          </p:cNvPr>
          <p:cNvCxnSpPr>
            <a:cxnSpLocks/>
          </p:cNvCxnSpPr>
          <p:nvPr/>
        </p:nvCxnSpPr>
        <p:spPr>
          <a:xfrm flipV="1">
            <a:off x="5409820" y="3166817"/>
            <a:ext cx="698373" cy="10179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7CD0C08-162C-E5E0-F43C-D85C80494889}"/>
              </a:ext>
            </a:extLst>
          </p:cNvPr>
          <p:cNvCxnSpPr>
            <a:cxnSpLocks/>
          </p:cNvCxnSpPr>
          <p:nvPr/>
        </p:nvCxnSpPr>
        <p:spPr>
          <a:xfrm>
            <a:off x="7252855" y="2925607"/>
            <a:ext cx="528689" cy="43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C996CAE-EAFA-2735-4DA6-5B96E3E1BB50}"/>
              </a:ext>
            </a:extLst>
          </p:cNvPr>
          <p:cNvSpPr txBox="1"/>
          <p:nvPr/>
        </p:nvSpPr>
        <p:spPr>
          <a:xfrm>
            <a:off x="-7842" y="5065145"/>
            <a:ext cx="9144000" cy="1015663"/>
          </a:xfrm>
          <a:prstGeom prst="rect">
            <a:avLst/>
          </a:prstGeom>
          <a:noFill/>
        </p:spPr>
        <p:txBody>
          <a:bodyPr wrap="square" rtlCol="0">
            <a:spAutoFit/>
          </a:bodyPr>
          <a:lstStyle/>
          <a:p>
            <a:pPr algn="ctr"/>
            <a:endParaRPr lang="en-US" sz="2000" dirty="0"/>
          </a:p>
          <a:p>
            <a:pPr algn="ctr"/>
            <a:endParaRPr lang="en-US" sz="2000" dirty="0"/>
          </a:p>
          <a:p>
            <a:pPr algn="ctr"/>
            <a:r>
              <a:rPr lang="en-US" sz="2000" dirty="0"/>
              <a:t>Alice (Person), Google (Organization), “joins after graduation” (Relation)</a:t>
            </a:r>
          </a:p>
        </p:txBody>
      </p:sp>
      <p:sp>
        <p:nvSpPr>
          <p:cNvPr id="23" name="Slide Number Placeholder 22">
            <a:extLst>
              <a:ext uri="{FF2B5EF4-FFF2-40B4-BE49-F238E27FC236}">
                <a16:creationId xmlns:a16="http://schemas.microsoft.com/office/drawing/2014/main" id="{7A0272A1-6F69-CA5B-E0CA-4AEE89C9755A}"/>
              </a:ext>
            </a:extLst>
          </p:cNvPr>
          <p:cNvSpPr>
            <a:spLocks noGrp="1"/>
          </p:cNvSpPr>
          <p:nvPr>
            <p:ph type="sldNum" sz="quarter" idx="12"/>
          </p:nvPr>
        </p:nvSpPr>
        <p:spPr/>
        <p:txBody>
          <a:bodyPr/>
          <a:lstStyle/>
          <a:p>
            <a:fld id="{70C12960-6E85-460F-B6E3-5B82CB31AF3D}" type="slidenum">
              <a:rPr lang="en-US" smtClean="0"/>
              <a:t>20</a:t>
            </a:fld>
            <a:endParaRPr lang="en-US"/>
          </a:p>
        </p:txBody>
      </p:sp>
    </p:spTree>
    <p:extLst>
      <p:ext uri="{BB962C8B-B14F-4D97-AF65-F5344CB8AC3E}">
        <p14:creationId xmlns:p14="http://schemas.microsoft.com/office/powerpoint/2010/main" val="1755042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D3848-0CD5-9255-D933-8A3ECCEE4336}"/>
              </a:ext>
            </a:extLst>
          </p:cNvPr>
          <p:cNvSpPr>
            <a:spLocks noGrp="1"/>
          </p:cNvSpPr>
          <p:nvPr>
            <p:ph type="title"/>
          </p:nvPr>
        </p:nvSpPr>
        <p:spPr/>
        <p:txBody>
          <a:bodyPr>
            <a:normAutofit/>
          </a:bodyPr>
          <a:lstStyle/>
          <a:p>
            <a:r>
              <a:rPr lang="en-US" sz="3400" dirty="0"/>
              <a:t>Sentiment Analysis </a:t>
            </a:r>
          </a:p>
        </p:txBody>
      </p:sp>
      <p:sp>
        <p:nvSpPr>
          <p:cNvPr id="4" name="TextBox 3">
            <a:extLst>
              <a:ext uri="{FF2B5EF4-FFF2-40B4-BE49-F238E27FC236}">
                <a16:creationId xmlns:a16="http://schemas.microsoft.com/office/drawing/2014/main" id="{97DE0D6A-9E13-AE27-C294-A11EE37B9E31}"/>
              </a:ext>
            </a:extLst>
          </p:cNvPr>
          <p:cNvSpPr txBox="1"/>
          <p:nvPr/>
        </p:nvSpPr>
        <p:spPr>
          <a:xfrm>
            <a:off x="557784" y="2145814"/>
            <a:ext cx="6039661" cy="769441"/>
          </a:xfrm>
          <a:prstGeom prst="rect">
            <a:avLst/>
          </a:prstGeom>
          <a:noFill/>
        </p:spPr>
        <p:txBody>
          <a:bodyPr wrap="square" rtlCol="0">
            <a:spAutoFit/>
          </a:bodyPr>
          <a:lstStyle/>
          <a:p>
            <a:r>
              <a:rPr lang="en-US" sz="2200" dirty="0"/>
              <a:t>Aims to classify the emotional tone behind a piece of text.</a:t>
            </a:r>
          </a:p>
        </p:txBody>
      </p:sp>
      <p:sp>
        <p:nvSpPr>
          <p:cNvPr id="5" name="Content Placeholder 2">
            <a:extLst>
              <a:ext uri="{FF2B5EF4-FFF2-40B4-BE49-F238E27FC236}">
                <a16:creationId xmlns:a16="http://schemas.microsoft.com/office/drawing/2014/main" id="{D5A45B6E-20BA-28C2-1A95-0CD3D80ED5F2}"/>
              </a:ext>
            </a:extLst>
          </p:cNvPr>
          <p:cNvSpPr txBox="1">
            <a:spLocks/>
          </p:cNvSpPr>
          <p:nvPr/>
        </p:nvSpPr>
        <p:spPr>
          <a:xfrm>
            <a:off x="557784" y="2915255"/>
            <a:ext cx="3532435" cy="1184797"/>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solidFill>
                  <a:srgbClr val="474747"/>
                </a:solidFill>
              </a:rPr>
              <a:t>Positive/Negative</a:t>
            </a:r>
          </a:p>
          <a:p>
            <a:r>
              <a:rPr lang="en-US" sz="2200" dirty="0">
                <a:solidFill>
                  <a:srgbClr val="474747"/>
                </a:solidFill>
              </a:rPr>
              <a:t>Joy/Sadness/Sarcasm</a:t>
            </a:r>
          </a:p>
        </p:txBody>
      </p:sp>
      <p:sp>
        <p:nvSpPr>
          <p:cNvPr id="13" name="Slide Number Placeholder 12">
            <a:extLst>
              <a:ext uri="{FF2B5EF4-FFF2-40B4-BE49-F238E27FC236}">
                <a16:creationId xmlns:a16="http://schemas.microsoft.com/office/drawing/2014/main" id="{F1EB3B86-F6A2-D285-0FB3-1C3C1F3E176D}"/>
              </a:ext>
            </a:extLst>
          </p:cNvPr>
          <p:cNvSpPr>
            <a:spLocks noGrp="1"/>
          </p:cNvSpPr>
          <p:nvPr>
            <p:ph type="sldNum" sz="quarter" idx="12"/>
          </p:nvPr>
        </p:nvSpPr>
        <p:spPr/>
        <p:txBody>
          <a:bodyPr/>
          <a:lstStyle/>
          <a:p>
            <a:fld id="{70C12960-6E85-460F-B6E3-5B82CB31AF3D}" type="slidenum">
              <a:rPr lang="en-US" smtClean="0"/>
              <a:t>21</a:t>
            </a:fld>
            <a:endParaRPr lang="en-US"/>
          </a:p>
        </p:txBody>
      </p:sp>
    </p:spTree>
    <p:extLst>
      <p:ext uri="{BB962C8B-B14F-4D97-AF65-F5344CB8AC3E}">
        <p14:creationId xmlns:p14="http://schemas.microsoft.com/office/powerpoint/2010/main" val="1934875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4703A-2BF9-09E6-BBF2-03A60D5B4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0370D-DB9A-4EB9-725A-9720AB6219FE}"/>
              </a:ext>
            </a:extLst>
          </p:cNvPr>
          <p:cNvSpPr>
            <a:spLocks noGrp="1"/>
          </p:cNvSpPr>
          <p:nvPr>
            <p:ph type="title"/>
          </p:nvPr>
        </p:nvSpPr>
        <p:spPr/>
        <p:txBody>
          <a:bodyPr>
            <a:normAutofit/>
          </a:bodyPr>
          <a:lstStyle/>
          <a:p>
            <a:r>
              <a:rPr lang="en-US" sz="3400" dirty="0"/>
              <a:t>Sentiment Analysis </a:t>
            </a:r>
          </a:p>
        </p:txBody>
      </p:sp>
      <p:sp>
        <p:nvSpPr>
          <p:cNvPr id="4" name="TextBox 3">
            <a:extLst>
              <a:ext uri="{FF2B5EF4-FFF2-40B4-BE49-F238E27FC236}">
                <a16:creationId xmlns:a16="http://schemas.microsoft.com/office/drawing/2014/main" id="{1739CDA1-C336-22E0-BFBD-BE2E0D24AEE0}"/>
              </a:ext>
            </a:extLst>
          </p:cNvPr>
          <p:cNvSpPr txBox="1"/>
          <p:nvPr/>
        </p:nvSpPr>
        <p:spPr>
          <a:xfrm>
            <a:off x="557784" y="2145814"/>
            <a:ext cx="6039661" cy="769441"/>
          </a:xfrm>
          <a:prstGeom prst="rect">
            <a:avLst/>
          </a:prstGeom>
          <a:noFill/>
        </p:spPr>
        <p:txBody>
          <a:bodyPr wrap="square" rtlCol="0">
            <a:spAutoFit/>
          </a:bodyPr>
          <a:lstStyle/>
          <a:p>
            <a:r>
              <a:rPr lang="en-US" sz="2200" dirty="0"/>
              <a:t>Aims to classify the emotional tone behind a piece of text.</a:t>
            </a:r>
          </a:p>
        </p:txBody>
      </p:sp>
      <p:sp>
        <p:nvSpPr>
          <p:cNvPr id="5" name="Content Placeholder 2">
            <a:extLst>
              <a:ext uri="{FF2B5EF4-FFF2-40B4-BE49-F238E27FC236}">
                <a16:creationId xmlns:a16="http://schemas.microsoft.com/office/drawing/2014/main" id="{F99BCB8F-0EFA-1FBE-4B92-1F19CC4C85A0}"/>
              </a:ext>
            </a:extLst>
          </p:cNvPr>
          <p:cNvSpPr txBox="1">
            <a:spLocks/>
          </p:cNvSpPr>
          <p:nvPr/>
        </p:nvSpPr>
        <p:spPr>
          <a:xfrm>
            <a:off x="557784" y="2915255"/>
            <a:ext cx="3532435" cy="1184797"/>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solidFill>
                  <a:srgbClr val="474747"/>
                </a:solidFill>
              </a:rPr>
              <a:t>Positive/Negative</a:t>
            </a:r>
          </a:p>
          <a:p>
            <a:r>
              <a:rPr lang="en-US" sz="2200" dirty="0">
                <a:solidFill>
                  <a:srgbClr val="474747"/>
                </a:solidFill>
              </a:rPr>
              <a:t>Joy/Sadness/Sarcasm</a:t>
            </a:r>
          </a:p>
        </p:txBody>
      </p:sp>
      <p:sp>
        <p:nvSpPr>
          <p:cNvPr id="9" name="TextBox 8">
            <a:extLst>
              <a:ext uri="{FF2B5EF4-FFF2-40B4-BE49-F238E27FC236}">
                <a16:creationId xmlns:a16="http://schemas.microsoft.com/office/drawing/2014/main" id="{A165796D-CD42-05CE-21EC-F814D8C2DD80}"/>
              </a:ext>
            </a:extLst>
          </p:cNvPr>
          <p:cNvSpPr txBox="1"/>
          <p:nvPr/>
        </p:nvSpPr>
        <p:spPr>
          <a:xfrm>
            <a:off x="880921" y="5287770"/>
            <a:ext cx="2282805" cy="430887"/>
          </a:xfrm>
          <a:prstGeom prst="rect">
            <a:avLst/>
          </a:prstGeom>
          <a:noFill/>
        </p:spPr>
        <p:txBody>
          <a:bodyPr wrap="square" rtlCol="0">
            <a:spAutoFit/>
          </a:bodyPr>
          <a:lstStyle/>
          <a:p>
            <a:r>
              <a:rPr lang="en-US" sz="2200" dirty="0"/>
              <a:t>Lexicon-based</a:t>
            </a:r>
          </a:p>
        </p:txBody>
      </p:sp>
      <p:sp>
        <p:nvSpPr>
          <p:cNvPr id="12" name="TextBox 11">
            <a:extLst>
              <a:ext uri="{FF2B5EF4-FFF2-40B4-BE49-F238E27FC236}">
                <a16:creationId xmlns:a16="http://schemas.microsoft.com/office/drawing/2014/main" id="{318DA0AD-A94D-C6EF-835C-D4D87D66FC87}"/>
              </a:ext>
            </a:extLst>
          </p:cNvPr>
          <p:cNvSpPr txBox="1"/>
          <p:nvPr/>
        </p:nvSpPr>
        <p:spPr>
          <a:xfrm>
            <a:off x="557784" y="4693911"/>
            <a:ext cx="6039661" cy="430887"/>
          </a:xfrm>
          <a:prstGeom prst="rect">
            <a:avLst/>
          </a:prstGeom>
          <a:noFill/>
        </p:spPr>
        <p:txBody>
          <a:bodyPr wrap="square" rtlCol="0">
            <a:spAutoFit/>
          </a:bodyPr>
          <a:lstStyle/>
          <a:p>
            <a:r>
              <a:rPr lang="en-US" sz="2200" b="1" dirty="0"/>
              <a:t>Common Models:</a:t>
            </a:r>
          </a:p>
        </p:txBody>
      </p:sp>
      <p:sp>
        <p:nvSpPr>
          <p:cNvPr id="3" name="Slide Number Placeholder 2">
            <a:extLst>
              <a:ext uri="{FF2B5EF4-FFF2-40B4-BE49-F238E27FC236}">
                <a16:creationId xmlns:a16="http://schemas.microsoft.com/office/drawing/2014/main" id="{24DEBF01-6147-FAAC-B2D0-04E795CF555B}"/>
              </a:ext>
            </a:extLst>
          </p:cNvPr>
          <p:cNvSpPr>
            <a:spLocks noGrp="1"/>
          </p:cNvSpPr>
          <p:nvPr>
            <p:ph type="sldNum" sz="quarter" idx="12"/>
          </p:nvPr>
        </p:nvSpPr>
        <p:spPr/>
        <p:txBody>
          <a:bodyPr/>
          <a:lstStyle/>
          <a:p>
            <a:fld id="{70C12960-6E85-460F-B6E3-5B82CB31AF3D}" type="slidenum">
              <a:rPr lang="en-US" smtClean="0"/>
              <a:t>22</a:t>
            </a:fld>
            <a:endParaRPr lang="en-US"/>
          </a:p>
        </p:txBody>
      </p:sp>
    </p:spTree>
    <p:extLst>
      <p:ext uri="{BB962C8B-B14F-4D97-AF65-F5344CB8AC3E}">
        <p14:creationId xmlns:p14="http://schemas.microsoft.com/office/powerpoint/2010/main" val="2171938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9BBD4-52A3-F6FB-2E3C-F94150C48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75389-8107-018E-DD34-92C0C41E48F6}"/>
              </a:ext>
            </a:extLst>
          </p:cNvPr>
          <p:cNvSpPr>
            <a:spLocks noGrp="1"/>
          </p:cNvSpPr>
          <p:nvPr>
            <p:ph type="title"/>
          </p:nvPr>
        </p:nvSpPr>
        <p:spPr/>
        <p:txBody>
          <a:bodyPr>
            <a:normAutofit/>
          </a:bodyPr>
          <a:lstStyle/>
          <a:p>
            <a:r>
              <a:rPr lang="en-US" sz="3400" dirty="0"/>
              <a:t>Sentiment Analysis </a:t>
            </a:r>
          </a:p>
        </p:txBody>
      </p:sp>
      <p:sp>
        <p:nvSpPr>
          <p:cNvPr id="4" name="TextBox 3">
            <a:extLst>
              <a:ext uri="{FF2B5EF4-FFF2-40B4-BE49-F238E27FC236}">
                <a16:creationId xmlns:a16="http://schemas.microsoft.com/office/drawing/2014/main" id="{78EA96B2-3C2E-7957-5117-B16C9A514696}"/>
              </a:ext>
            </a:extLst>
          </p:cNvPr>
          <p:cNvSpPr txBox="1"/>
          <p:nvPr/>
        </p:nvSpPr>
        <p:spPr>
          <a:xfrm>
            <a:off x="557784" y="2145814"/>
            <a:ext cx="6039661" cy="769441"/>
          </a:xfrm>
          <a:prstGeom prst="rect">
            <a:avLst/>
          </a:prstGeom>
          <a:noFill/>
        </p:spPr>
        <p:txBody>
          <a:bodyPr wrap="square" rtlCol="0">
            <a:spAutoFit/>
          </a:bodyPr>
          <a:lstStyle/>
          <a:p>
            <a:r>
              <a:rPr lang="en-US" sz="2200" dirty="0"/>
              <a:t>Aims to classify the emotional tone behind a piece of text.</a:t>
            </a:r>
          </a:p>
        </p:txBody>
      </p:sp>
      <p:sp>
        <p:nvSpPr>
          <p:cNvPr id="5" name="Content Placeholder 2">
            <a:extLst>
              <a:ext uri="{FF2B5EF4-FFF2-40B4-BE49-F238E27FC236}">
                <a16:creationId xmlns:a16="http://schemas.microsoft.com/office/drawing/2014/main" id="{412B659E-951F-C6E7-0B47-6500F821B8BF}"/>
              </a:ext>
            </a:extLst>
          </p:cNvPr>
          <p:cNvSpPr txBox="1">
            <a:spLocks/>
          </p:cNvSpPr>
          <p:nvPr/>
        </p:nvSpPr>
        <p:spPr>
          <a:xfrm>
            <a:off x="557784" y="2915255"/>
            <a:ext cx="3532435" cy="1184797"/>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solidFill>
                  <a:srgbClr val="474747"/>
                </a:solidFill>
              </a:rPr>
              <a:t>Positive/Negative</a:t>
            </a:r>
          </a:p>
          <a:p>
            <a:r>
              <a:rPr lang="en-US" sz="2200" dirty="0">
                <a:solidFill>
                  <a:srgbClr val="474747"/>
                </a:solidFill>
              </a:rPr>
              <a:t>Joy/Sadness/Sarcasm</a:t>
            </a:r>
          </a:p>
        </p:txBody>
      </p:sp>
      <p:sp>
        <p:nvSpPr>
          <p:cNvPr id="9" name="TextBox 8">
            <a:extLst>
              <a:ext uri="{FF2B5EF4-FFF2-40B4-BE49-F238E27FC236}">
                <a16:creationId xmlns:a16="http://schemas.microsoft.com/office/drawing/2014/main" id="{A99C7CED-FF10-6523-DABA-28C31ABF3D8A}"/>
              </a:ext>
            </a:extLst>
          </p:cNvPr>
          <p:cNvSpPr txBox="1"/>
          <p:nvPr/>
        </p:nvSpPr>
        <p:spPr>
          <a:xfrm>
            <a:off x="880921" y="5287770"/>
            <a:ext cx="2282805" cy="430887"/>
          </a:xfrm>
          <a:prstGeom prst="rect">
            <a:avLst/>
          </a:prstGeom>
          <a:noFill/>
        </p:spPr>
        <p:txBody>
          <a:bodyPr wrap="square" rtlCol="0">
            <a:spAutoFit/>
          </a:bodyPr>
          <a:lstStyle/>
          <a:p>
            <a:r>
              <a:rPr lang="en-US" sz="2200" dirty="0"/>
              <a:t>Lexicon-based</a:t>
            </a:r>
          </a:p>
        </p:txBody>
      </p:sp>
      <p:sp>
        <p:nvSpPr>
          <p:cNvPr id="10" name="TextBox 9">
            <a:extLst>
              <a:ext uri="{FF2B5EF4-FFF2-40B4-BE49-F238E27FC236}">
                <a16:creationId xmlns:a16="http://schemas.microsoft.com/office/drawing/2014/main" id="{97AA4DE6-B83A-40F4-E179-0369E9BF3B45}"/>
              </a:ext>
            </a:extLst>
          </p:cNvPr>
          <p:cNvSpPr txBox="1"/>
          <p:nvPr/>
        </p:nvSpPr>
        <p:spPr>
          <a:xfrm>
            <a:off x="3406054" y="5287770"/>
            <a:ext cx="3185541" cy="769441"/>
          </a:xfrm>
          <a:prstGeom prst="rect">
            <a:avLst/>
          </a:prstGeom>
          <a:noFill/>
        </p:spPr>
        <p:txBody>
          <a:bodyPr wrap="square" rtlCol="0">
            <a:spAutoFit/>
          </a:bodyPr>
          <a:lstStyle/>
          <a:p>
            <a:r>
              <a:rPr lang="en-US" sz="2200" dirty="0"/>
              <a:t>Maximum Entropy Classifier</a:t>
            </a:r>
          </a:p>
        </p:txBody>
      </p:sp>
      <p:sp>
        <p:nvSpPr>
          <p:cNvPr id="12" name="TextBox 11">
            <a:extLst>
              <a:ext uri="{FF2B5EF4-FFF2-40B4-BE49-F238E27FC236}">
                <a16:creationId xmlns:a16="http://schemas.microsoft.com/office/drawing/2014/main" id="{0D3A1C5C-7915-A94D-089B-04C4B6A9B085}"/>
              </a:ext>
            </a:extLst>
          </p:cNvPr>
          <p:cNvSpPr txBox="1"/>
          <p:nvPr/>
        </p:nvSpPr>
        <p:spPr>
          <a:xfrm>
            <a:off x="557784" y="4693911"/>
            <a:ext cx="6039661" cy="430887"/>
          </a:xfrm>
          <a:prstGeom prst="rect">
            <a:avLst/>
          </a:prstGeom>
          <a:noFill/>
        </p:spPr>
        <p:txBody>
          <a:bodyPr wrap="square" rtlCol="0">
            <a:spAutoFit/>
          </a:bodyPr>
          <a:lstStyle/>
          <a:p>
            <a:r>
              <a:rPr lang="en-US" sz="2200" b="1" dirty="0"/>
              <a:t>Common Models:</a:t>
            </a:r>
          </a:p>
        </p:txBody>
      </p:sp>
      <p:sp>
        <p:nvSpPr>
          <p:cNvPr id="3" name="Slide Number Placeholder 2">
            <a:extLst>
              <a:ext uri="{FF2B5EF4-FFF2-40B4-BE49-F238E27FC236}">
                <a16:creationId xmlns:a16="http://schemas.microsoft.com/office/drawing/2014/main" id="{AB2150F8-0A95-86DC-FDF3-31C8975F2E9F}"/>
              </a:ext>
            </a:extLst>
          </p:cNvPr>
          <p:cNvSpPr>
            <a:spLocks noGrp="1"/>
          </p:cNvSpPr>
          <p:nvPr>
            <p:ph type="sldNum" sz="quarter" idx="12"/>
          </p:nvPr>
        </p:nvSpPr>
        <p:spPr/>
        <p:txBody>
          <a:bodyPr/>
          <a:lstStyle/>
          <a:p>
            <a:fld id="{70C12960-6E85-460F-B6E3-5B82CB31AF3D}" type="slidenum">
              <a:rPr lang="en-US" smtClean="0"/>
              <a:t>23</a:t>
            </a:fld>
            <a:endParaRPr lang="en-US"/>
          </a:p>
        </p:txBody>
      </p:sp>
    </p:spTree>
    <p:extLst>
      <p:ext uri="{BB962C8B-B14F-4D97-AF65-F5344CB8AC3E}">
        <p14:creationId xmlns:p14="http://schemas.microsoft.com/office/powerpoint/2010/main" val="3270020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2DC85-652B-E8B7-5B8D-5A8902BA0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1F15D-EBB9-9075-17FD-7927FA777411}"/>
              </a:ext>
            </a:extLst>
          </p:cNvPr>
          <p:cNvSpPr>
            <a:spLocks noGrp="1"/>
          </p:cNvSpPr>
          <p:nvPr>
            <p:ph type="title"/>
          </p:nvPr>
        </p:nvSpPr>
        <p:spPr/>
        <p:txBody>
          <a:bodyPr>
            <a:normAutofit/>
          </a:bodyPr>
          <a:lstStyle/>
          <a:p>
            <a:r>
              <a:rPr lang="en-US" sz="3400" dirty="0"/>
              <a:t>Sentiment Analysis </a:t>
            </a:r>
          </a:p>
        </p:txBody>
      </p:sp>
      <p:sp>
        <p:nvSpPr>
          <p:cNvPr id="4" name="TextBox 3">
            <a:extLst>
              <a:ext uri="{FF2B5EF4-FFF2-40B4-BE49-F238E27FC236}">
                <a16:creationId xmlns:a16="http://schemas.microsoft.com/office/drawing/2014/main" id="{3C33CA45-A90D-C7B6-1B93-E1B8FE480533}"/>
              </a:ext>
            </a:extLst>
          </p:cNvPr>
          <p:cNvSpPr txBox="1"/>
          <p:nvPr/>
        </p:nvSpPr>
        <p:spPr>
          <a:xfrm>
            <a:off x="557784" y="2145814"/>
            <a:ext cx="6039661" cy="769441"/>
          </a:xfrm>
          <a:prstGeom prst="rect">
            <a:avLst/>
          </a:prstGeom>
          <a:noFill/>
        </p:spPr>
        <p:txBody>
          <a:bodyPr wrap="square" rtlCol="0">
            <a:spAutoFit/>
          </a:bodyPr>
          <a:lstStyle/>
          <a:p>
            <a:r>
              <a:rPr lang="en-US" sz="2200" dirty="0"/>
              <a:t>Aims to classify the emotional tone behind a piece of text.</a:t>
            </a:r>
          </a:p>
        </p:txBody>
      </p:sp>
      <p:sp>
        <p:nvSpPr>
          <p:cNvPr id="5" name="Content Placeholder 2">
            <a:extLst>
              <a:ext uri="{FF2B5EF4-FFF2-40B4-BE49-F238E27FC236}">
                <a16:creationId xmlns:a16="http://schemas.microsoft.com/office/drawing/2014/main" id="{0CB12A4D-A068-DC47-7471-8167BE27CF86}"/>
              </a:ext>
            </a:extLst>
          </p:cNvPr>
          <p:cNvSpPr txBox="1">
            <a:spLocks/>
          </p:cNvSpPr>
          <p:nvPr/>
        </p:nvSpPr>
        <p:spPr>
          <a:xfrm>
            <a:off x="557784" y="2915255"/>
            <a:ext cx="3532435" cy="1184797"/>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solidFill>
                  <a:srgbClr val="474747"/>
                </a:solidFill>
              </a:rPr>
              <a:t>Positive/Negative</a:t>
            </a:r>
          </a:p>
          <a:p>
            <a:r>
              <a:rPr lang="en-US" sz="2200" dirty="0">
                <a:solidFill>
                  <a:srgbClr val="474747"/>
                </a:solidFill>
              </a:rPr>
              <a:t>Joy/Sadness/Sarcasm</a:t>
            </a:r>
          </a:p>
        </p:txBody>
      </p:sp>
      <p:sp>
        <p:nvSpPr>
          <p:cNvPr id="9" name="TextBox 8">
            <a:extLst>
              <a:ext uri="{FF2B5EF4-FFF2-40B4-BE49-F238E27FC236}">
                <a16:creationId xmlns:a16="http://schemas.microsoft.com/office/drawing/2014/main" id="{77DB24E4-BB89-34F0-B32A-2AE0332D344D}"/>
              </a:ext>
            </a:extLst>
          </p:cNvPr>
          <p:cNvSpPr txBox="1"/>
          <p:nvPr/>
        </p:nvSpPr>
        <p:spPr>
          <a:xfrm>
            <a:off x="880921" y="5287770"/>
            <a:ext cx="2282805" cy="430887"/>
          </a:xfrm>
          <a:prstGeom prst="rect">
            <a:avLst/>
          </a:prstGeom>
          <a:noFill/>
        </p:spPr>
        <p:txBody>
          <a:bodyPr wrap="square" rtlCol="0">
            <a:spAutoFit/>
          </a:bodyPr>
          <a:lstStyle/>
          <a:p>
            <a:r>
              <a:rPr lang="en-US" sz="2200" dirty="0"/>
              <a:t>Lexicon-based</a:t>
            </a:r>
          </a:p>
        </p:txBody>
      </p:sp>
      <p:sp>
        <p:nvSpPr>
          <p:cNvPr id="10" name="TextBox 9">
            <a:extLst>
              <a:ext uri="{FF2B5EF4-FFF2-40B4-BE49-F238E27FC236}">
                <a16:creationId xmlns:a16="http://schemas.microsoft.com/office/drawing/2014/main" id="{F4C009C4-1647-0BDF-10B2-65D4C3F444C8}"/>
              </a:ext>
            </a:extLst>
          </p:cNvPr>
          <p:cNvSpPr txBox="1"/>
          <p:nvPr/>
        </p:nvSpPr>
        <p:spPr>
          <a:xfrm>
            <a:off x="3406054" y="5287770"/>
            <a:ext cx="3185541" cy="769441"/>
          </a:xfrm>
          <a:prstGeom prst="rect">
            <a:avLst/>
          </a:prstGeom>
          <a:noFill/>
        </p:spPr>
        <p:txBody>
          <a:bodyPr wrap="square" rtlCol="0">
            <a:spAutoFit/>
          </a:bodyPr>
          <a:lstStyle/>
          <a:p>
            <a:r>
              <a:rPr lang="en-US" sz="2200" dirty="0"/>
              <a:t>Maximum Entropy Classifier</a:t>
            </a:r>
          </a:p>
        </p:txBody>
      </p:sp>
      <p:sp>
        <p:nvSpPr>
          <p:cNvPr id="11" name="TextBox 10">
            <a:extLst>
              <a:ext uri="{FF2B5EF4-FFF2-40B4-BE49-F238E27FC236}">
                <a16:creationId xmlns:a16="http://schemas.microsoft.com/office/drawing/2014/main" id="{357D0ECF-160F-6455-4675-5E2FE167ACA8}"/>
              </a:ext>
            </a:extLst>
          </p:cNvPr>
          <p:cNvSpPr txBox="1"/>
          <p:nvPr/>
        </p:nvSpPr>
        <p:spPr>
          <a:xfrm>
            <a:off x="6681916" y="5287769"/>
            <a:ext cx="1966341" cy="769441"/>
          </a:xfrm>
          <a:prstGeom prst="rect">
            <a:avLst/>
          </a:prstGeom>
          <a:noFill/>
        </p:spPr>
        <p:txBody>
          <a:bodyPr wrap="square" rtlCol="0">
            <a:spAutoFit/>
          </a:bodyPr>
          <a:lstStyle/>
          <a:p>
            <a:r>
              <a:rPr lang="en-US" sz="2200" dirty="0"/>
              <a:t>Linear Classifiers</a:t>
            </a:r>
          </a:p>
        </p:txBody>
      </p:sp>
      <p:sp>
        <p:nvSpPr>
          <p:cNvPr id="12" name="TextBox 11">
            <a:extLst>
              <a:ext uri="{FF2B5EF4-FFF2-40B4-BE49-F238E27FC236}">
                <a16:creationId xmlns:a16="http://schemas.microsoft.com/office/drawing/2014/main" id="{DA324F27-406C-92D1-2440-427EBBEBACA4}"/>
              </a:ext>
            </a:extLst>
          </p:cNvPr>
          <p:cNvSpPr txBox="1"/>
          <p:nvPr/>
        </p:nvSpPr>
        <p:spPr>
          <a:xfrm>
            <a:off x="557784" y="4693911"/>
            <a:ext cx="6039661" cy="430887"/>
          </a:xfrm>
          <a:prstGeom prst="rect">
            <a:avLst/>
          </a:prstGeom>
          <a:noFill/>
        </p:spPr>
        <p:txBody>
          <a:bodyPr wrap="square" rtlCol="0">
            <a:spAutoFit/>
          </a:bodyPr>
          <a:lstStyle/>
          <a:p>
            <a:r>
              <a:rPr lang="en-US" sz="2200" b="1" dirty="0"/>
              <a:t>Common Models:</a:t>
            </a:r>
          </a:p>
        </p:txBody>
      </p:sp>
      <p:sp>
        <p:nvSpPr>
          <p:cNvPr id="3" name="Slide Number Placeholder 2">
            <a:extLst>
              <a:ext uri="{FF2B5EF4-FFF2-40B4-BE49-F238E27FC236}">
                <a16:creationId xmlns:a16="http://schemas.microsoft.com/office/drawing/2014/main" id="{0B51BC33-FE64-18DB-16EA-B381A82FD1C7}"/>
              </a:ext>
            </a:extLst>
          </p:cNvPr>
          <p:cNvSpPr>
            <a:spLocks noGrp="1"/>
          </p:cNvSpPr>
          <p:nvPr>
            <p:ph type="sldNum" sz="quarter" idx="12"/>
          </p:nvPr>
        </p:nvSpPr>
        <p:spPr/>
        <p:txBody>
          <a:bodyPr/>
          <a:lstStyle/>
          <a:p>
            <a:fld id="{70C12960-6E85-460F-B6E3-5B82CB31AF3D}" type="slidenum">
              <a:rPr lang="en-US" smtClean="0"/>
              <a:t>24</a:t>
            </a:fld>
            <a:endParaRPr lang="en-US"/>
          </a:p>
        </p:txBody>
      </p:sp>
    </p:spTree>
    <p:extLst>
      <p:ext uri="{BB962C8B-B14F-4D97-AF65-F5344CB8AC3E}">
        <p14:creationId xmlns:p14="http://schemas.microsoft.com/office/powerpoint/2010/main" val="2931988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DEFC3-98BF-3552-4B09-1B8CEF6DC45B}"/>
              </a:ext>
            </a:extLst>
          </p:cNvPr>
          <p:cNvSpPr>
            <a:spLocks noGrp="1"/>
          </p:cNvSpPr>
          <p:nvPr>
            <p:ph type="title"/>
          </p:nvPr>
        </p:nvSpPr>
        <p:spPr/>
        <p:txBody>
          <a:bodyPr>
            <a:normAutofit/>
          </a:bodyPr>
          <a:lstStyle/>
          <a:p>
            <a:r>
              <a:rPr lang="en-US" sz="3400" dirty="0"/>
              <a:t>My Website</a:t>
            </a:r>
          </a:p>
        </p:txBody>
      </p:sp>
      <p:sp>
        <p:nvSpPr>
          <p:cNvPr id="4" name="TextBox 3">
            <a:extLst>
              <a:ext uri="{FF2B5EF4-FFF2-40B4-BE49-F238E27FC236}">
                <a16:creationId xmlns:a16="http://schemas.microsoft.com/office/drawing/2014/main" id="{EF4651C2-9D2B-D688-7C41-F57E41B8840A}"/>
              </a:ext>
            </a:extLst>
          </p:cNvPr>
          <p:cNvSpPr txBox="1"/>
          <p:nvPr/>
        </p:nvSpPr>
        <p:spPr>
          <a:xfrm>
            <a:off x="557784" y="2145813"/>
            <a:ext cx="7681341" cy="1107996"/>
          </a:xfrm>
          <a:prstGeom prst="rect">
            <a:avLst/>
          </a:prstGeom>
          <a:noFill/>
        </p:spPr>
        <p:txBody>
          <a:bodyPr wrap="square" rtlCol="0">
            <a:spAutoFit/>
          </a:bodyPr>
          <a:lstStyle/>
          <a:p>
            <a:r>
              <a:rPr lang="en-US" sz="2200" b="1" dirty="0"/>
              <a:t>Project Goal: </a:t>
            </a:r>
          </a:p>
          <a:p>
            <a:r>
              <a:rPr lang="en-US" sz="2200" dirty="0"/>
              <a:t>Digital journaling for memories associated with songs. Tagging memories for easy organization.</a:t>
            </a:r>
          </a:p>
        </p:txBody>
      </p:sp>
      <p:sp>
        <p:nvSpPr>
          <p:cNvPr id="11" name="Slide Number Placeholder 10">
            <a:extLst>
              <a:ext uri="{FF2B5EF4-FFF2-40B4-BE49-F238E27FC236}">
                <a16:creationId xmlns:a16="http://schemas.microsoft.com/office/drawing/2014/main" id="{E9B4D715-66EA-BCAE-5303-B82F9629CF6C}"/>
              </a:ext>
            </a:extLst>
          </p:cNvPr>
          <p:cNvSpPr>
            <a:spLocks noGrp="1"/>
          </p:cNvSpPr>
          <p:nvPr>
            <p:ph type="sldNum" sz="quarter" idx="12"/>
          </p:nvPr>
        </p:nvSpPr>
        <p:spPr/>
        <p:txBody>
          <a:bodyPr/>
          <a:lstStyle/>
          <a:p>
            <a:fld id="{70C12960-6E85-460F-B6E3-5B82CB31AF3D}" type="slidenum">
              <a:rPr lang="en-US" smtClean="0"/>
              <a:t>25</a:t>
            </a:fld>
            <a:endParaRPr lang="en-US"/>
          </a:p>
        </p:txBody>
      </p:sp>
    </p:spTree>
    <p:extLst>
      <p:ext uri="{BB962C8B-B14F-4D97-AF65-F5344CB8AC3E}">
        <p14:creationId xmlns:p14="http://schemas.microsoft.com/office/powerpoint/2010/main" val="645292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CBE54-FF33-2F05-3964-762647A2B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71338-D36E-FC8B-8C50-E4272C8E24EC}"/>
              </a:ext>
            </a:extLst>
          </p:cNvPr>
          <p:cNvSpPr>
            <a:spLocks noGrp="1"/>
          </p:cNvSpPr>
          <p:nvPr>
            <p:ph type="title"/>
          </p:nvPr>
        </p:nvSpPr>
        <p:spPr/>
        <p:txBody>
          <a:bodyPr>
            <a:normAutofit/>
          </a:bodyPr>
          <a:lstStyle/>
          <a:p>
            <a:r>
              <a:rPr lang="en-US" sz="3400" dirty="0"/>
              <a:t>My Website</a:t>
            </a:r>
          </a:p>
        </p:txBody>
      </p:sp>
      <p:sp>
        <p:nvSpPr>
          <p:cNvPr id="4" name="TextBox 3">
            <a:extLst>
              <a:ext uri="{FF2B5EF4-FFF2-40B4-BE49-F238E27FC236}">
                <a16:creationId xmlns:a16="http://schemas.microsoft.com/office/drawing/2014/main" id="{36708679-2052-5410-AB92-14A0D7645F8D}"/>
              </a:ext>
            </a:extLst>
          </p:cNvPr>
          <p:cNvSpPr txBox="1"/>
          <p:nvPr/>
        </p:nvSpPr>
        <p:spPr>
          <a:xfrm>
            <a:off x="557784" y="2145813"/>
            <a:ext cx="7681341" cy="1107996"/>
          </a:xfrm>
          <a:prstGeom prst="rect">
            <a:avLst/>
          </a:prstGeom>
          <a:noFill/>
        </p:spPr>
        <p:txBody>
          <a:bodyPr wrap="square" rtlCol="0">
            <a:spAutoFit/>
          </a:bodyPr>
          <a:lstStyle/>
          <a:p>
            <a:r>
              <a:rPr lang="en-US" sz="2200" b="1" dirty="0"/>
              <a:t>Project Goal: </a:t>
            </a:r>
          </a:p>
          <a:p>
            <a:r>
              <a:rPr lang="en-US" sz="2200" dirty="0"/>
              <a:t>Digital journaling for memories associated with songs. Tagging memories for easy organization.</a:t>
            </a:r>
          </a:p>
        </p:txBody>
      </p:sp>
      <p:sp>
        <p:nvSpPr>
          <p:cNvPr id="5" name="TextBox 4">
            <a:extLst>
              <a:ext uri="{FF2B5EF4-FFF2-40B4-BE49-F238E27FC236}">
                <a16:creationId xmlns:a16="http://schemas.microsoft.com/office/drawing/2014/main" id="{3DAC1CB7-5BBF-C307-33CE-D4708780827C}"/>
              </a:ext>
            </a:extLst>
          </p:cNvPr>
          <p:cNvSpPr txBox="1"/>
          <p:nvPr/>
        </p:nvSpPr>
        <p:spPr>
          <a:xfrm>
            <a:off x="557783" y="3428616"/>
            <a:ext cx="7681340" cy="2123658"/>
          </a:xfrm>
          <a:prstGeom prst="rect">
            <a:avLst/>
          </a:prstGeom>
          <a:noFill/>
        </p:spPr>
        <p:txBody>
          <a:bodyPr wrap="square" rtlCol="0">
            <a:spAutoFit/>
          </a:bodyPr>
          <a:lstStyle/>
          <a:p>
            <a:r>
              <a:rPr lang="en-US" sz="2200" b="1" dirty="0"/>
              <a:t>Implementation:</a:t>
            </a:r>
          </a:p>
          <a:p>
            <a:r>
              <a:rPr lang="en-US" sz="2200" dirty="0"/>
              <a:t>Backend: </a:t>
            </a:r>
            <a:r>
              <a:rPr lang="en-US" sz="2200" dirty="0" err="1"/>
              <a:t>FastAPI</a:t>
            </a:r>
            <a:endParaRPr lang="en-US" sz="2200" dirty="0"/>
          </a:p>
          <a:p>
            <a:r>
              <a:rPr lang="en-US" sz="2200" dirty="0"/>
              <a:t>Frontend: React</a:t>
            </a:r>
          </a:p>
          <a:p>
            <a:r>
              <a:rPr lang="en-US" sz="2200" dirty="0"/>
              <a:t>Database: PostgreSQL</a:t>
            </a:r>
          </a:p>
          <a:p>
            <a:r>
              <a:rPr lang="en-US" sz="2200" dirty="0" err="1"/>
              <a:t>KeyBERT</a:t>
            </a:r>
            <a:r>
              <a:rPr lang="en-US" sz="2200" dirty="0"/>
              <a:t>: keyword extraction for title recommendations</a:t>
            </a:r>
          </a:p>
          <a:p>
            <a:endParaRPr lang="en-US" sz="2200" dirty="0"/>
          </a:p>
        </p:txBody>
      </p:sp>
      <p:sp>
        <p:nvSpPr>
          <p:cNvPr id="3" name="Slide Number Placeholder 2">
            <a:extLst>
              <a:ext uri="{FF2B5EF4-FFF2-40B4-BE49-F238E27FC236}">
                <a16:creationId xmlns:a16="http://schemas.microsoft.com/office/drawing/2014/main" id="{11C15E92-CEF2-9294-CBA9-AED86C0D1374}"/>
              </a:ext>
            </a:extLst>
          </p:cNvPr>
          <p:cNvSpPr>
            <a:spLocks noGrp="1"/>
          </p:cNvSpPr>
          <p:nvPr>
            <p:ph type="sldNum" sz="quarter" idx="12"/>
          </p:nvPr>
        </p:nvSpPr>
        <p:spPr/>
        <p:txBody>
          <a:bodyPr/>
          <a:lstStyle/>
          <a:p>
            <a:fld id="{70C12960-6E85-460F-B6E3-5B82CB31AF3D}" type="slidenum">
              <a:rPr lang="en-US" smtClean="0"/>
              <a:t>26</a:t>
            </a:fld>
            <a:endParaRPr lang="en-US"/>
          </a:p>
        </p:txBody>
      </p:sp>
    </p:spTree>
    <p:extLst>
      <p:ext uri="{BB962C8B-B14F-4D97-AF65-F5344CB8AC3E}">
        <p14:creationId xmlns:p14="http://schemas.microsoft.com/office/powerpoint/2010/main" val="1397023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6B6A4-2142-2072-302C-FAE3DBCD8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8EA2B-B329-1216-117F-B2DCEA94B4FC}"/>
              </a:ext>
            </a:extLst>
          </p:cNvPr>
          <p:cNvSpPr>
            <a:spLocks noGrp="1"/>
          </p:cNvSpPr>
          <p:nvPr>
            <p:ph type="title"/>
          </p:nvPr>
        </p:nvSpPr>
        <p:spPr/>
        <p:txBody>
          <a:bodyPr>
            <a:normAutofit/>
          </a:bodyPr>
          <a:lstStyle/>
          <a:p>
            <a:r>
              <a:rPr lang="en-US" sz="3400" dirty="0"/>
              <a:t>My Website</a:t>
            </a:r>
          </a:p>
        </p:txBody>
      </p:sp>
      <p:sp>
        <p:nvSpPr>
          <p:cNvPr id="4" name="TextBox 3">
            <a:extLst>
              <a:ext uri="{FF2B5EF4-FFF2-40B4-BE49-F238E27FC236}">
                <a16:creationId xmlns:a16="http://schemas.microsoft.com/office/drawing/2014/main" id="{A8EADA48-0FC7-8078-92D2-12E13793ABAC}"/>
              </a:ext>
            </a:extLst>
          </p:cNvPr>
          <p:cNvSpPr txBox="1"/>
          <p:nvPr/>
        </p:nvSpPr>
        <p:spPr>
          <a:xfrm>
            <a:off x="557784" y="2145813"/>
            <a:ext cx="7681341" cy="1107996"/>
          </a:xfrm>
          <a:prstGeom prst="rect">
            <a:avLst/>
          </a:prstGeom>
          <a:noFill/>
        </p:spPr>
        <p:txBody>
          <a:bodyPr wrap="square" rtlCol="0">
            <a:spAutoFit/>
          </a:bodyPr>
          <a:lstStyle/>
          <a:p>
            <a:r>
              <a:rPr lang="en-US" sz="2200" b="1" dirty="0"/>
              <a:t>Project Goal: </a:t>
            </a:r>
          </a:p>
          <a:p>
            <a:r>
              <a:rPr lang="en-US" sz="2200" dirty="0"/>
              <a:t>Digital journaling for memories associated with songs. Tagging memories for easy organization.</a:t>
            </a:r>
          </a:p>
        </p:txBody>
      </p:sp>
      <p:sp>
        <p:nvSpPr>
          <p:cNvPr id="5" name="TextBox 4">
            <a:extLst>
              <a:ext uri="{FF2B5EF4-FFF2-40B4-BE49-F238E27FC236}">
                <a16:creationId xmlns:a16="http://schemas.microsoft.com/office/drawing/2014/main" id="{9CAEE724-A789-B709-5207-0556512AEDC1}"/>
              </a:ext>
            </a:extLst>
          </p:cNvPr>
          <p:cNvSpPr txBox="1"/>
          <p:nvPr/>
        </p:nvSpPr>
        <p:spPr>
          <a:xfrm>
            <a:off x="557783" y="3428616"/>
            <a:ext cx="7681340" cy="2123658"/>
          </a:xfrm>
          <a:prstGeom prst="rect">
            <a:avLst/>
          </a:prstGeom>
          <a:noFill/>
        </p:spPr>
        <p:txBody>
          <a:bodyPr wrap="square" rtlCol="0">
            <a:spAutoFit/>
          </a:bodyPr>
          <a:lstStyle/>
          <a:p>
            <a:r>
              <a:rPr lang="en-US" sz="2200" b="1" dirty="0"/>
              <a:t>Implementation:</a:t>
            </a:r>
          </a:p>
          <a:p>
            <a:r>
              <a:rPr lang="en-US" sz="2200" dirty="0"/>
              <a:t>Backend: </a:t>
            </a:r>
            <a:r>
              <a:rPr lang="en-US" sz="2200" dirty="0" err="1"/>
              <a:t>FastAPI</a:t>
            </a:r>
            <a:endParaRPr lang="en-US" sz="2200" dirty="0"/>
          </a:p>
          <a:p>
            <a:r>
              <a:rPr lang="en-US" sz="2200" dirty="0"/>
              <a:t>Frontend: React</a:t>
            </a:r>
          </a:p>
          <a:p>
            <a:r>
              <a:rPr lang="en-US" sz="2200" dirty="0"/>
              <a:t>Database: PostgreSQL</a:t>
            </a:r>
          </a:p>
          <a:p>
            <a:r>
              <a:rPr lang="en-US" sz="2200" dirty="0" err="1"/>
              <a:t>KeyBERT</a:t>
            </a:r>
            <a:r>
              <a:rPr lang="en-US" sz="2200" dirty="0"/>
              <a:t>: keyword extraction for title recommendations</a:t>
            </a:r>
          </a:p>
          <a:p>
            <a:endParaRPr lang="en-US" sz="2200" dirty="0"/>
          </a:p>
        </p:txBody>
      </p:sp>
      <p:sp>
        <p:nvSpPr>
          <p:cNvPr id="9" name="TextBox 8">
            <a:extLst>
              <a:ext uri="{FF2B5EF4-FFF2-40B4-BE49-F238E27FC236}">
                <a16:creationId xmlns:a16="http://schemas.microsoft.com/office/drawing/2014/main" id="{F8BDA15D-6CFB-BC0F-C927-FE9711F94DE9}"/>
              </a:ext>
            </a:extLst>
          </p:cNvPr>
          <p:cNvSpPr txBox="1"/>
          <p:nvPr/>
        </p:nvSpPr>
        <p:spPr>
          <a:xfrm>
            <a:off x="557783" y="5486399"/>
            <a:ext cx="8090474" cy="769441"/>
          </a:xfrm>
          <a:prstGeom prst="rect">
            <a:avLst/>
          </a:prstGeom>
          <a:noFill/>
        </p:spPr>
        <p:txBody>
          <a:bodyPr wrap="square" rtlCol="0">
            <a:spAutoFit/>
          </a:bodyPr>
          <a:lstStyle/>
          <a:p>
            <a:r>
              <a:rPr lang="en-US" sz="2200" b="1" dirty="0"/>
              <a:t>Future Work: </a:t>
            </a:r>
          </a:p>
          <a:p>
            <a:r>
              <a:rPr lang="en-US" sz="2200" dirty="0"/>
              <a:t>Sentiment Analysis model to facilitate emotion tagging</a:t>
            </a:r>
          </a:p>
        </p:txBody>
      </p:sp>
      <p:sp>
        <p:nvSpPr>
          <p:cNvPr id="3" name="Slide Number Placeholder 2">
            <a:extLst>
              <a:ext uri="{FF2B5EF4-FFF2-40B4-BE49-F238E27FC236}">
                <a16:creationId xmlns:a16="http://schemas.microsoft.com/office/drawing/2014/main" id="{E095F452-5EED-FAEA-9B9A-B9ADBBE2F284}"/>
              </a:ext>
            </a:extLst>
          </p:cNvPr>
          <p:cNvSpPr>
            <a:spLocks noGrp="1"/>
          </p:cNvSpPr>
          <p:nvPr>
            <p:ph type="sldNum" sz="quarter" idx="12"/>
          </p:nvPr>
        </p:nvSpPr>
        <p:spPr/>
        <p:txBody>
          <a:bodyPr/>
          <a:lstStyle/>
          <a:p>
            <a:fld id="{70C12960-6E85-460F-B6E3-5B82CB31AF3D}" type="slidenum">
              <a:rPr lang="en-US" sz="1600" smtClean="0"/>
              <a:t>27</a:t>
            </a:fld>
            <a:endParaRPr lang="en-US" sz="1600" dirty="0"/>
          </a:p>
        </p:txBody>
      </p:sp>
    </p:spTree>
    <p:extLst>
      <p:ext uri="{BB962C8B-B14F-4D97-AF65-F5344CB8AC3E}">
        <p14:creationId xmlns:p14="http://schemas.microsoft.com/office/powerpoint/2010/main" val="982248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BAEDF-233E-EB80-9B0A-34B79A50A46A}"/>
              </a:ext>
            </a:extLst>
          </p:cNvPr>
          <p:cNvSpPr>
            <a:spLocks noGrp="1"/>
          </p:cNvSpPr>
          <p:nvPr>
            <p:ph type="title"/>
          </p:nvPr>
        </p:nvSpPr>
        <p:spPr>
          <a:xfrm>
            <a:off x="487901" y="2458065"/>
            <a:ext cx="8168197" cy="1941870"/>
          </a:xfrm>
        </p:spPr>
        <p:txBody>
          <a:bodyPr>
            <a:normAutofit/>
          </a:bodyPr>
          <a:lstStyle/>
          <a:p>
            <a:pPr algn="ctr"/>
            <a:r>
              <a:rPr lang="en-US" sz="3400" dirty="0"/>
              <a:t> </a:t>
            </a:r>
            <a:br>
              <a:rPr lang="en-US" sz="3400" dirty="0"/>
            </a:br>
            <a:r>
              <a:rPr lang="en-US" sz="3400" dirty="0"/>
              <a:t>Thank You</a:t>
            </a:r>
          </a:p>
        </p:txBody>
      </p:sp>
      <p:sp>
        <p:nvSpPr>
          <p:cNvPr id="4" name="Slide Number Placeholder 3">
            <a:extLst>
              <a:ext uri="{FF2B5EF4-FFF2-40B4-BE49-F238E27FC236}">
                <a16:creationId xmlns:a16="http://schemas.microsoft.com/office/drawing/2014/main" id="{81065459-5A31-254C-1201-60BF44FB298C}"/>
              </a:ext>
            </a:extLst>
          </p:cNvPr>
          <p:cNvSpPr>
            <a:spLocks noGrp="1"/>
          </p:cNvSpPr>
          <p:nvPr>
            <p:ph type="sldNum" sz="quarter" idx="12"/>
          </p:nvPr>
        </p:nvSpPr>
        <p:spPr/>
        <p:txBody>
          <a:bodyPr/>
          <a:lstStyle/>
          <a:p>
            <a:fld id="{70C12960-6E85-460F-B6E3-5B82CB31AF3D}" type="slidenum">
              <a:rPr lang="en-US" smtClean="0"/>
              <a:t>28</a:t>
            </a:fld>
            <a:endParaRPr lang="en-US"/>
          </a:p>
        </p:txBody>
      </p:sp>
    </p:spTree>
    <p:extLst>
      <p:ext uri="{BB962C8B-B14F-4D97-AF65-F5344CB8AC3E}">
        <p14:creationId xmlns:p14="http://schemas.microsoft.com/office/powerpoint/2010/main" val="415829430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3637</TotalTime>
  <Words>1633</Words>
  <Application>Microsoft Office PowerPoint</Application>
  <PresentationFormat>On-screen Show (4:3)</PresentationFormat>
  <Paragraphs>227</Paragraphs>
  <Slides>28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Arial</vt:lpstr>
      <vt:lpstr>Grandview Display</vt:lpstr>
      <vt:lpstr>DashVTI</vt:lpstr>
      <vt:lpstr>Information Extraction and Sentiment Analysis</vt:lpstr>
      <vt:lpstr>Information Extraction (IE)</vt:lpstr>
      <vt:lpstr>Information Extraction (IE)</vt:lpstr>
      <vt:lpstr>Information Extraction (IE)</vt:lpstr>
      <vt:lpstr>Information Extraction (IE)</vt:lpstr>
      <vt:lpstr>Information Extraction (IE)</vt:lpstr>
      <vt:lpstr>Information Extraction (IE)</vt:lpstr>
      <vt:lpstr>Information Extraction (IE)</vt:lpstr>
      <vt:lpstr>The ML-based IE Pipeline</vt:lpstr>
      <vt:lpstr>The ML-based IE Pipeline</vt:lpstr>
      <vt:lpstr>The ML-based IE Pipeline</vt:lpstr>
      <vt:lpstr>The ML-based IE Pipeline</vt:lpstr>
      <vt:lpstr>The ML-based IE Pipeline</vt:lpstr>
      <vt:lpstr>The ML-based IE Pipeline</vt:lpstr>
      <vt:lpstr>The ML-based IE Pipeline</vt:lpstr>
      <vt:lpstr>The ML-based IE Pipeline</vt:lpstr>
      <vt:lpstr>The ML-based IE Pipeline</vt:lpstr>
      <vt:lpstr>The ML-based IE Pipeline</vt:lpstr>
      <vt:lpstr>The ML-based IE Pipeline</vt:lpstr>
      <vt:lpstr>The ML-based IE Pipeline</vt:lpstr>
      <vt:lpstr>Sentiment Analysis </vt:lpstr>
      <vt:lpstr>Sentiment Analysis </vt:lpstr>
      <vt:lpstr>Sentiment Analysis </vt:lpstr>
      <vt:lpstr>Sentiment Analysis </vt:lpstr>
      <vt:lpstr>My Website</vt:lpstr>
      <vt:lpstr>My Website</vt:lpstr>
      <vt:lpstr>My Website</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Rueffer</dc:creator>
  <cp:lastModifiedBy>Jonathan Rueffer</cp:lastModifiedBy>
  <cp:revision>2</cp:revision>
  <dcterms:created xsi:type="dcterms:W3CDTF">2025-04-23T16:00:01Z</dcterms:created>
  <dcterms:modified xsi:type="dcterms:W3CDTF">2025-05-05T15:44:00Z</dcterms:modified>
</cp:coreProperties>
</file>